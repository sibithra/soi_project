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60" r:id="rId6"/>
    <p:sldId id="261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2" r:id="rId15"/>
    <p:sldId id="273" r:id="rId16"/>
    <p:sldId id="274" r:id="rId17"/>
    <p:sldId id="276" r:id="rId18"/>
    <p:sldId id="277" r:id="rId19"/>
    <p:sldId id="278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57AF2-7073-421B-A3A1-1490D8F05925}" v="1" dt="2026-03-02T02:40:23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969" autoAdjust="0"/>
  </p:normalViewPr>
  <p:slideViewPr>
    <p:cSldViewPr snapToGrid="0" snapToObjects="1">
      <p:cViewPr varScale="1">
        <p:scale>
          <a:sx n="42" d="100"/>
          <a:sy n="42" d="100"/>
        </p:scale>
        <p:origin x="60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ithra v" userId="028e6d356b201339" providerId="LiveId" clId="{93A1AED5-2762-446B-9BF4-5F8FA22B0C75}"/>
    <pc:docChg chg="modSld">
      <pc:chgData name="sibithra v" userId="028e6d356b201339" providerId="LiveId" clId="{93A1AED5-2762-446B-9BF4-5F8FA22B0C75}" dt="2026-03-20T10:46:11.371" v="5" actId="1076"/>
      <pc:docMkLst>
        <pc:docMk/>
      </pc:docMkLst>
      <pc:sldChg chg="modSp mod">
        <pc:chgData name="sibithra v" userId="028e6d356b201339" providerId="LiveId" clId="{93A1AED5-2762-446B-9BF4-5F8FA22B0C75}" dt="2026-03-02T11:36:13.164" v="1" actId="1036"/>
        <pc:sldMkLst>
          <pc:docMk/>
          <pc:sldMk cId="0" sldId="260"/>
        </pc:sldMkLst>
        <pc:spChg chg="mod">
          <ac:chgData name="sibithra v" userId="028e6d356b201339" providerId="LiveId" clId="{93A1AED5-2762-446B-9BF4-5F8FA22B0C75}" dt="2026-03-02T11:36:13.164" v="1" actId="1036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sibithra v" userId="028e6d356b201339" providerId="LiveId" clId="{93A1AED5-2762-446B-9BF4-5F8FA22B0C75}" dt="2026-03-12T03:38:12.357" v="4" actId="20577"/>
        <pc:sldMkLst>
          <pc:docMk/>
          <pc:sldMk cId="0" sldId="270"/>
        </pc:sldMkLst>
        <pc:spChg chg="mod">
          <ac:chgData name="sibithra v" userId="028e6d356b201339" providerId="LiveId" clId="{93A1AED5-2762-446B-9BF4-5F8FA22B0C75}" dt="2026-03-12T03:38:12.357" v="4" actId="20577"/>
          <ac:spMkLst>
            <pc:docMk/>
            <pc:sldMk cId="0" sldId="270"/>
            <ac:spMk id="5" creationId="{00000000-0000-0000-0000-000000000000}"/>
          </ac:spMkLst>
        </pc:spChg>
        <pc:spChg chg="mod">
          <ac:chgData name="sibithra v" userId="028e6d356b201339" providerId="LiveId" clId="{93A1AED5-2762-446B-9BF4-5F8FA22B0C75}" dt="2026-03-12T03:37:06.930" v="3" actId="1076"/>
          <ac:spMkLst>
            <pc:docMk/>
            <pc:sldMk cId="0" sldId="270"/>
            <ac:spMk id="16" creationId="{00000000-0000-0000-0000-000000000000}"/>
          </ac:spMkLst>
        </pc:spChg>
      </pc:sldChg>
      <pc:sldChg chg="modSp mod">
        <pc:chgData name="sibithra v" userId="028e6d356b201339" providerId="LiveId" clId="{93A1AED5-2762-446B-9BF4-5F8FA22B0C75}" dt="2026-03-20T10:46:11.371" v="5" actId="1076"/>
        <pc:sldMkLst>
          <pc:docMk/>
          <pc:sldMk cId="0" sldId="276"/>
        </pc:sldMkLst>
        <pc:spChg chg="mod">
          <ac:chgData name="sibithra v" userId="028e6d356b201339" providerId="LiveId" clId="{93A1AED5-2762-446B-9BF4-5F8FA22B0C75}" dt="2026-03-20T10:46:11.371" v="5" actId="1076"/>
          <ac:spMkLst>
            <pc:docMk/>
            <pc:sldMk cId="0" sldId="276"/>
            <ac:spMk id="8" creationId="{00000000-0000-0000-0000-000000000000}"/>
          </ac:spMkLst>
        </pc:spChg>
        <pc:spChg chg="mod">
          <ac:chgData name="sibithra v" userId="028e6d356b201339" providerId="LiveId" clId="{93A1AED5-2762-446B-9BF4-5F8FA22B0C75}" dt="2026-03-02T02:40:23.373" v="0"/>
          <ac:spMkLst>
            <pc:docMk/>
            <pc:sldMk cId="0" sldId="27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603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h.gov/news-events/nih-research-matters/plastic-particles-bottled-water" TargetMode="External"/><Relationship Id="rId7" Type="http://schemas.openxmlformats.org/officeDocument/2006/relationships/hyperlink" Target="https://pubmed.ncbi.nlm.nih.gov/38537794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ciencedirect.com/science/article/pii/S0043135419301794" TargetMode="External"/><Relationship Id="rId5" Type="http://schemas.openxmlformats.org/officeDocument/2006/relationships/hyperlink" Target="https://www.dw.com/en/bottled-water-not-safe-from-microplastic-contamination/a-42936246" TargetMode="External"/><Relationship Id="rId4" Type="http://schemas.openxmlformats.org/officeDocument/2006/relationships/hyperlink" Target="https://www.mdpi.com/2673-8929/4/2/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1417320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— MVP Stage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13232" y="97840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Deck Template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6949440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</a:t>
            </a:r>
            <a:r>
              <a:rPr lang="en-US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6730539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20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The Spark   |   Team-ID: </a:t>
            </a:r>
            <a:r>
              <a:rPr lang="en-US" sz="2000" dirty="0"/>
              <a:t>P-2024-28-EI-159 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Sibithra V   |   Members: Sakthivel V, Arun R, Viviksha K, Shri </a:t>
            </a:r>
            <a:r>
              <a:rPr lang="en-US" sz="2000" dirty="0" err="1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krishnamoorthy</a:t>
            </a:r>
            <a:r>
              <a:rPr lang="en-US" sz="20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Sriram R   |   Lab Code: EI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909560" y="1828800"/>
            <a:ext cx="3611880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0" y="20574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Outcomes: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00212" y="2395728"/>
            <a:ext cx="323057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MVP successfully detected microplastics in water in real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system achieved fast response with acceptable accuracy during user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Some instability was observed due to ambient light and alignment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Further refinement is required to improve accuracy and reliability before deployment.</a:t>
            </a:r>
          </a:p>
          <a:p>
            <a:pPr>
              <a:lnSpc>
                <a:spcPct val="115000"/>
              </a:lnSpc>
              <a:buSzPct val="100000"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5907024"/>
            <a:ext cx="107286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6108192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sz="1000" dirty="0">
              <a:latin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End-User Reconfirmation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user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500" b="1" dirty="0"/>
              <a:t>Target End-User : </a:t>
            </a:r>
            <a:r>
              <a:rPr lang="en-US" sz="1500" dirty="0"/>
              <a:t>Water treatment plant operators and municipal water quality inspectors.</a:t>
            </a:r>
          </a:p>
          <a:p>
            <a:pPr>
              <a:lnSpc>
                <a:spcPct val="115000"/>
              </a:lnSpc>
            </a:pPr>
            <a:r>
              <a:rPr lang="en-US" sz="1500" b="1" dirty="0"/>
              <a:t>Pain Point : </a:t>
            </a:r>
            <a:r>
              <a:rPr lang="en-US" sz="1500" dirty="0"/>
              <a:t>Current microplastic detection requires lab testing, expensive equipment, and long turnaround time (hours to days).</a:t>
            </a:r>
          </a:p>
          <a:p>
            <a:pPr>
              <a:lnSpc>
                <a:spcPct val="115000"/>
              </a:lnSpc>
            </a:pPr>
            <a:r>
              <a:rPr lang="en-US" sz="1500" b="1" dirty="0"/>
              <a:t>Context / Environment : </a:t>
            </a:r>
            <a:r>
              <a:rPr lang="en-US" sz="1500" dirty="0"/>
              <a:t>On-site water testing benches in municipal plants; indoor testing environment. </a:t>
            </a:r>
          </a:p>
          <a:p>
            <a:pPr>
              <a:lnSpc>
                <a:spcPct val="115000"/>
              </a:lnSpc>
            </a:pPr>
            <a:r>
              <a:rPr lang="en-US" sz="1500" b="1" dirty="0"/>
              <a:t>Baseline (Current State Metric) : </a:t>
            </a:r>
            <a:r>
              <a:rPr lang="en-US" sz="1500" dirty="0"/>
              <a:t>Lab-based testing takes 24–72 hours and costs significantly per sample.</a:t>
            </a:r>
          </a:p>
          <a:p>
            <a:pPr>
              <a:lnSpc>
                <a:spcPct val="115000"/>
              </a:lnSpc>
            </a:pPr>
            <a:r>
              <a:rPr lang="en-US" sz="1500" b="1" dirty="0"/>
              <a:t>Why Urgent : </a:t>
            </a:r>
            <a:r>
              <a:rPr lang="en-US" sz="1500" dirty="0"/>
              <a:t>Microplastic contamination is widespread; delay in detection prevents immediate corrective action</a:t>
            </a:r>
          </a:p>
        </p:txBody>
      </p:sp>
      <p:sp>
        <p:nvSpPr>
          <p:cNvPr id="8" name="Shape 6"/>
          <p:cNvSpPr/>
          <p:nvPr/>
        </p:nvSpPr>
        <p:spPr>
          <a:xfrm>
            <a:off x="6629400" y="1432310"/>
            <a:ext cx="4892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057400"/>
            <a:ext cx="4251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500" dirty="0"/>
              <a:t>For water quality inspectors who need fast contamination checks, our device provides on-site detection within 2 seconds so they can take immediate action.</a:t>
            </a:r>
          </a:p>
        </p:txBody>
      </p:sp>
      <p:sp>
        <p:nvSpPr>
          <p:cNvPr id="11" name="Shape 9"/>
          <p:cNvSpPr/>
          <p:nvPr/>
        </p:nvSpPr>
        <p:spPr>
          <a:xfrm>
            <a:off x="6629400" y="3886200"/>
            <a:ext cx="4892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41148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 anchor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452628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/>
              <a:t>Time to Detection (seconds) If we don’t reduce detection time drastically, the product is useless.</a:t>
            </a:r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Recap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48740"/>
            <a:ext cx="57607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in prototype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25168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b="1" dirty="0"/>
          </a:p>
          <a:p>
            <a:r>
              <a:rPr lang="en-US" sz="1600" dirty="0"/>
              <a:t>End-to-end hardware integration achieved</a:t>
            </a:r>
          </a:p>
          <a:p>
            <a:r>
              <a:rPr lang="en-US" sz="1600" dirty="0"/>
              <a:t>Detection accuracy ~60%</a:t>
            </a:r>
          </a:p>
          <a:p>
            <a:r>
              <a:rPr lang="en-US" sz="1600" dirty="0"/>
              <a:t>Response time ≤ 2 seconds</a:t>
            </a:r>
          </a:p>
          <a:p>
            <a:r>
              <a:rPr lang="en-US" sz="1600" b="1" dirty="0"/>
              <a:t>Constraints Discovered : </a:t>
            </a:r>
          </a:p>
          <a:p>
            <a:r>
              <a:rPr lang="en-US" sz="1600" dirty="0"/>
              <a:t>Signal drift over time</a:t>
            </a:r>
          </a:p>
          <a:p>
            <a:r>
              <a:rPr lang="en-US" sz="1600" dirty="0"/>
              <a:t>Ambient light interference</a:t>
            </a:r>
          </a:p>
          <a:p>
            <a:r>
              <a:rPr lang="en-US" sz="1600" dirty="0"/>
              <a:t>Alignment sensitivity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5760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4389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gaps blocking MVP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8006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Need better enclosure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Need calibration mechanism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Need real-user validation</a:t>
            </a:r>
          </a:p>
        </p:txBody>
      </p:sp>
      <p:sp>
        <p:nvSpPr>
          <p:cNvPr id="11" name="Shape 9"/>
          <p:cNvSpPr/>
          <p:nvPr/>
        </p:nvSpPr>
        <p:spPr>
          <a:xfrm>
            <a:off x="6629400" y="1357884"/>
            <a:ext cx="4892040" cy="48143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187909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at MVP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253996"/>
            <a:ext cx="4251960" cy="3735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/>
              <a:t>Real usage by lab users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/>
              <a:t>Structured feedback collection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/>
              <a:t>Metric composition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/>
              <a:t>At least one iteration after feedback</a:t>
            </a:r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Hypothesis (Mandatory)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hypothesis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1800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600" dirty="0"/>
              <a:t>We believe that water quality technicians will reduce microplastic detection time from hours to under 2 seconds if they use our portable optical detection MVP in a lab or field setting.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474720"/>
            <a:ext cx="5760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375818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(minimum 2 metrics)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849624"/>
            <a:ext cx="1828800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1" name="Text 9"/>
          <p:cNvSpPr/>
          <p:nvPr/>
        </p:nvSpPr>
        <p:spPr>
          <a:xfrm>
            <a:off x="1024128" y="3904488"/>
            <a:ext cx="16093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3849624"/>
            <a:ext cx="1371600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852928" y="3904488"/>
            <a:ext cx="11521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3849624"/>
            <a:ext cx="2011680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224528" y="3904488"/>
            <a:ext cx="179222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measured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352544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24128" y="4407408"/>
            <a:ext cx="16093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/>
              <a:t>Detection Accuracy</a:t>
            </a:r>
          </a:p>
        </p:txBody>
      </p:sp>
      <p:sp>
        <p:nvSpPr>
          <p:cNvPr id="18" name="Shape 16"/>
          <p:cNvSpPr/>
          <p:nvPr/>
        </p:nvSpPr>
        <p:spPr>
          <a:xfrm>
            <a:off x="2743200" y="4352544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852928" y="4407408"/>
            <a:ext cx="11521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4352544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400" dirty="0"/>
              <a:t>30 test runs (clean vs contaminated)</a:t>
            </a:r>
            <a:endParaRPr sz="1400" dirty="0"/>
          </a:p>
        </p:txBody>
      </p:sp>
      <p:sp>
        <p:nvSpPr>
          <p:cNvPr id="21" name="Text 19"/>
          <p:cNvSpPr/>
          <p:nvPr/>
        </p:nvSpPr>
        <p:spPr>
          <a:xfrm>
            <a:off x="4224528" y="4407408"/>
            <a:ext cx="17922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855464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24128" y="4910328"/>
            <a:ext cx="16093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/>
              <a:t>Detection Time</a:t>
            </a:r>
          </a:p>
        </p:txBody>
      </p:sp>
      <p:sp>
        <p:nvSpPr>
          <p:cNvPr id="24" name="Shape 22"/>
          <p:cNvSpPr/>
          <p:nvPr/>
        </p:nvSpPr>
        <p:spPr>
          <a:xfrm>
            <a:off x="2743200" y="4855464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dirty="0"/>
              <a:t>  ≤2 sec</a:t>
            </a:r>
            <a:endParaRPr dirty="0"/>
          </a:p>
        </p:txBody>
      </p:sp>
      <p:sp>
        <p:nvSpPr>
          <p:cNvPr id="25" name="Text 23"/>
          <p:cNvSpPr/>
          <p:nvPr/>
        </p:nvSpPr>
        <p:spPr>
          <a:xfrm>
            <a:off x="2852928" y="4910328"/>
            <a:ext cx="11521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4855464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600" dirty="0"/>
              <a:t>Stopwatch measurement</a:t>
            </a:r>
            <a:endParaRPr sz="1600" dirty="0"/>
          </a:p>
        </p:txBody>
      </p:sp>
      <p:sp>
        <p:nvSpPr>
          <p:cNvPr id="27" name="Text 25"/>
          <p:cNvSpPr/>
          <p:nvPr/>
        </p:nvSpPr>
        <p:spPr>
          <a:xfrm>
            <a:off x="4224528" y="4910328"/>
            <a:ext cx="17922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5358384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24128" y="5413248"/>
            <a:ext cx="16093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/>
              <a:t>False Alerts</a:t>
            </a:r>
          </a:p>
        </p:txBody>
      </p:sp>
      <p:sp>
        <p:nvSpPr>
          <p:cNvPr id="30" name="Shape 28"/>
          <p:cNvSpPr/>
          <p:nvPr/>
        </p:nvSpPr>
        <p:spPr>
          <a:xfrm>
            <a:off x="2701634" y="5358384"/>
            <a:ext cx="141316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dirty="0"/>
              <a:t>   ≤5%</a:t>
            </a:r>
            <a:endParaRPr dirty="0"/>
          </a:p>
        </p:txBody>
      </p:sp>
      <p:sp>
        <p:nvSpPr>
          <p:cNvPr id="31" name="Text 29"/>
          <p:cNvSpPr/>
          <p:nvPr/>
        </p:nvSpPr>
        <p:spPr>
          <a:xfrm>
            <a:off x="2852928" y="5413248"/>
            <a:ext cx="11521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5358384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600" dirty="0"/>
              <a:t>20 room-light tests</a:t>
            </a:r>
            <a:endParaRPr sz="1600" dirty="0"/>
          </a:p>
        </p:txBody>
      </p:sp>
      <p:sp>
        <p:nvSpPr>
          <p:cNvPr id="33" name="Text 31"/>
          <p:cNvSpPr/>
          <p:nvPr/>
        </p:nvSpPr>
        <p:spPr>
          <a:xfrm>
            <a:off x="4224528" y="5413248"/>
            <a:ext cx="17922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29400" y="3474720"/>
            <a:ext cx="4892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949440" y="37033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target 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49440" y="4114800"/>
            <a:ext cx="4251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: 5–10 users + ≥2 KPIs + 1 iteration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8/23</a:t>
            </a:r>
            <a:endParaRPr lang="en-US" sz="1000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E795F8B-98B3-6B11-F280-1020AC17F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580959"/>
              </p:ext>
            </p:extLst>
          </p:nvPr>
        </p:nvGraphicFramePr>
        <p:xfrm>
          <a:off x="758952" y="323735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897318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620239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DEA53327-829F-CE9F-B4AC-15B26CA3A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349104"/>
              </p:ext>
            </p:extLst>
          </p:nvPr>
        </p:nvGraphicFramePr>
        <p:xfrm>
          <a:off x="2871354" y="4416552"/>
          <a:ext cx="1115291" cy="365760"/>
        </p:xfrm>
        <a:graphic>
          <a:graphicData uri="http://schemas.openxmlformats.org/drawingml/2006/table">
            <a:tbl>
              <a:tblPr/>
              <a:tblGrid>
                <a:gridCol w="1115291">
                  <a:extLst>
                    <a:ext uri="{9D8B030D-6E8A-4147-A177-3AD203B41FA5}">
                      <a16:colId xmlns:a16="http://schemas.microsoft.com/office/drawing/2014/main" val="329243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≥95%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0572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96785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user journey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/>
              <a:t>MVP User Goal</a:t>
            </a:r>
          </a:p>
          <a:p>
            <a:r>
              <a:rPr lang="en-US" sz="1600" dirty="0"/>
              <a:t>Quickly check if a water sample contains microplastics.</a:t>
            </a:r>
          </a:p>
          <a:p>
            <a:r>
              <a:rPr lang="en-US" sz="1600" b="1" dirty="0"/>
              <a:t>User Journey</a:t>
            </a:r>
          </a:p>
          <a:p>
            <a:r>
              <a:rPr lang="en-US" sz="1600" dirty="0"/>
              <a:t>Power ON device</a:t>
            </a:r>
          </a:p>
          <a:p>
            <a:r>
              <a:rPr lang="en-US" sz="1600" dirty="0"/>
              <a:t>Insert water sample</a:t>
            </a:r>
          </a:p>
          <a:p>
            <a:r>
              <a:rPr lang="en-US" sz="1600" dirty="0"/>
              <a:t>View contamination status on LCD</a:t>
            </a:r>
          </a:p>
          <a:p>
            <a:r>
              <a:rPr lang="en-US" sz="1600" b="1" dirty="0"/>
              <a:t>Output</a:t>
            </a:r>
          </a:p>
          <a:p>
            <a:r>
              <a:rPr lang="en-US" sz="1600" dirty="0"/>
              <a:t>“Water clear” or “Particles Found” within 2 seconds.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68135" y="1325880"/>
            <a:ext cx="4892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82386" y="1684159"/>
            <a:ext cx="4251960" cy="15162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Optical sensing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Signal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LCD contamination alert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Basic enclosure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29400" y="3794760"/>
            <a:ext cx="4892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402336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4434840"/>
            <a:ext cx="4251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/>
              <a:t>Plastic type classification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/>
              <a:t>Cloud Dashboard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/>
              <a:t>Mobile app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/>
              <a:t>Mass deployment</a:t>
            </a:r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+ who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914283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Deployment Sites</a:t>
            </a:r>
          </a:p>
          <a:p>
            <a:r>
              <a:rPr lang="en-US" sz="1400" dirty="0"/>
              <a:t>College environmental lab + 1 external water testing lab</a:t>
            </a:r>
          </a:p>
          <a:p>
            <a:r>
              <a:rPr lang="en-US" sz="1400" b="1" dirty="0"/>
              <a:t>End-User Group</a:t>
            </a:r>
          </a:p>
          <a:p>
            <a:r>
              <a:rPr lang="en-US" sz="1400" dirty="0"/>
              <a:t>Lab assistants / technicians</a:t>
            </a:r>
          </a:p>
          <a:p>
            <a:r>
              <a:rPr lang="en-US" sz="1400" b="1" dirty="0"/>
              <a:t>Planned User Count</a:t>
            </a:r>
          </a:p>
          <a:p>
            <a:r>
              <a:rPr lang="en-US" sz="1400" dirty="0"/>
              <a:t>6 users</a:t>
            </a:r>
          </a:p>
          <a:p>
            <a:r>
              <a:rPr lang="en-US" sz="1400" b="1" dirty="0"/>
              <a:t>Duration</a:t>
            </a:r>
          </a:p>
          <a:p>
            <a:r>
              <a:rPr lang="en-US" sz="1400" dirty="0"/>
              <a:t>5 days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5760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4206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onboarding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6177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1-page instruction sheet</a:t>
            </a:r>
          </a:p>
          <a:p>
            <a:r>
              <a:rPr lang="en-US" sz="1600" dirty="0"/>
              <a:t>Live demonstration</a:t>
            </a:r>
          </a:p>
          <a:p>
            <a:r>
              <a:rPr lang="en-US" sz="1600" dirty="0"/>
              <a:t>No login required</a:t>
            </a:r>
          </a:p>
          <a:p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10647" y="2061695"/>
            <a:ext cx="3815542" cy="36124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privacy / ethics 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10/23</a:t>
            </a:r>
            <a:endParaRPr lang="en-US" sz="1000" dirty="0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98AF5AD-92D7-93CD-A39D-CC6146E6C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618" y="2578252"/>
            <a:ext cx="2895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Written user consent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personal data collected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Insulated wiring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enclosure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 SIMULATED (Mandatory)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3821937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183794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/ step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82057" y="1783080"/>
            <a:ext cx="1433226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891785" y="183794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5283" y="1783080"/>
            <a:ext cx="1433226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25011" y="183794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48509" y="1783080"/>
            <a:ext cx="3583066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58237" y="183794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33172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69848" y="238658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interaction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82057" y="233172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✔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91785" y="238658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5283" y="233172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/>
              <a:t>-</a:t>
            </a:r>
            <a:endParaRPr b="1" dirty="0"/>
          </a:p>
        </p:txBody>
      </p:sp>
      <p:sp>
        <p:nvSpPr>
          <p:cNvPr id="19" name="Text 17"/>
          <p:cNvSpPr/>
          <p:nvPr/>
        </p:nvSpPr>
        <p:spPr>
          <a:xfrm>
            <a:off x="6325011" y="238658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48509" y="233172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Real lab users</a:t>
            </a:r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58237" y="238658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288036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69848" y="293522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82057" y="288036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91785" y="293522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5283" y="288036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pPr algn="ctr"/>
            <a:r>
              <a:rPr lang="en-US" b="1"/>
              <a:t>-</a:t>
            </a:r>
            <a:endParaRPr lang="en-US" b="1" dirty="0"/>
          </a:p>
        </p:txBody>
      </p:sp>
      <p:sp>
        <p:nvSpPr>
          <p:cNvPr id="27" name="Text 25"/>
          <p:cNvSpPr/>
          <p:nvPr/>
        </p:nvSpPr>
        <p:spPr>
          <a:xfrm>
            <a:off x="6325011" y="293522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48509" y="288036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Arduino logs</a:t>
            </a:r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58237" y="293522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0120" y="342900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69848" y="348386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82057" y="342900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91785" y="348386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5283" y="342900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pPr algn="ctr"/>
            <a:r>
              <a:rPr lang="en-US" b="1"/>
              <a:t>-</a:t>
            </a:r>
            <a:endParaRPr lang="en-US" b="1" dirty="0"/>
          </a:p>
        </p:txBody>
      </p:sp>
      <p:sp>
        <p:nvSpPr>
          <p:cNvPr id="35" name="Text 33"/>
          <p:cNvSpPr/>
          <p:nvPr/>
        </p:nvSpPr>
        <p:spPr>
          <a:xfrm>
            <a:off x="6325011" y="348386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48509" y="342900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Threshold algorithm</a:t>
            </a:r>
            <a:endParaRPr/>
          </a:p>
        </p:txBody>
      </p:sp>
      <p:sp>
        <p:nvSpPr>
          <p:cNvPr id="37" name="Text 35"/>
          <p:cNvSpPr/>
          <p:nvPr/>
        </p:nvSpPr>
        <p:spPr>
          <a:xfrm>
            <a:off x="7758237" y="348386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0120" y="397764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069848" y="403250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82057" y="397764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91785" y="403250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5283" y="397764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pPr algn="ctr"/>
            <a:r>
              <a:rPr lang="en-US" b="1"/>
              <a:t>-</a:t>
            </a:r>
            <a:endParaRPr lang="en-US" b="1" dirty="0"/>
          </a:p>
        </p:txBody>
      </p:sp>
      <p:sp>
        <p:nvSpPr>
          <p:cNvPr id="43" name="Text 41"/>
          <p:cNvSpPr/>
          <p:nvPr/>
        </p:nvSpPr>
        <p:spPr>
          <a:xfrm>
            <a:off x="6325011" y="403250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648509" y="397764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Full hardware</a:t>
            </a:r>
            <a:endParaRPr/>
          </a:p>
        </p:txBody>
      </p:sp>
      <p:sp>
        <p:nvSpPr>
          <p:cNvPr id="45" name="Text 43"/>
          <p:cNvSpPr/>
          <p:nvPr/>
        </p:nvSpPr>
        <p:spPr>
          <a:xfrm>
            <a:off x="7758237" y="403250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0120" y="452628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069848" y="458114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82057" y="452628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891785" y="458114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215283" y="452628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pPr algn="ctr"/>
            <a:r>
              <a:rPr lang="en-US" b="1"/>
              <a:t>-</a:t>
            </a:r>
            <a:endParaRPr lang="en-US" b="1" dirty="0"/>
          </a:p>
        </p:txBody>
      </p:sp>
      <p:sp>
        <p:nvSpPr>
          <p:cNvPr id="51" name="Text 49"/>
          <p:cNvSpPr/>
          <p:nvPr/>
        </p:nvSpPr>
        <p:spPr>
          <a:xfrm>
            <a:off x="6325011" y="458114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648509" y="452628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LCD display</a:t>
            </a:r>
            <a:endParaRPr/>
          </a:p>
        </p:txBody>
      </p:sp>
      <p:sp>
        <p:nvSpPr>
          <p:cNvPr id="53" name="Text 51"/>
          <p:cNvSpPr/>
          <p:nvPr/>
        </p:nvSpPr>
        <p:spPr>
          <a:xfrm>
            <a:off x="7758237" y="458114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Simulation is allowed only if clearly marked. MVP still requires real end-users and real feedback.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-11498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126480" y="109728"/>
            <a:ext cx="5790895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Validation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protocol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/>
              <a:t>Users Recruited</a:t>
            </a:r>
          </a:p>
          <a:p>
            <a:r>
              <a:rPr lang="en-US" sz="1600" dirty="0"/>
              <a:t>6 lab users</a:t>
            </a:r>
          </a:p>
          <a:p>
            <a:r>
              <a:rPr lang="en-US" sz="1600" b="1" dirty="0"/>
              <a:t>Tasks</a:t>
            </a:r>
          </a:p>
          <a:p>
            <a:r>
              <a:rPr lang="en-US" sz="1600" dirty="0"/>
              <a:t>Test clean water</a:t>
            </a:r>
          </a:p>
          <a:p>
            <a:r>
              <a:rPr lang="en-US" sz="1600" dirty="0"/>
              <a:t>Test plastic-mixed water</a:t>
            </a:r>
          </a:p>
          <a:p>
            <a:r>
              <a:rPr lang="en-US" sz="1600" dirty="0"/>
              <a:t>Repeat under room lighting</a:t>
            </a:r>
          </a:p>
          <a:p>
            <a:r>
              <a:rPr lang="en-US" sz="1600" b="1" dirty="0"/>
              <a:t>Time per Session</a:t>
            </a:r>
          </a:p>
          <a:p>
            <a:r>
              <a:rPr lang="en-US" sz="1600" dirty="0"/>
              <a:t>5 minutes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4343400"/>
            <a:ext cx="5760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4572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questions (minimum)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9834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59575" y="1471353"/>
            <a:ext cx="48920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2" name="Text 10"/>
          <p:cNvSpPr/>
          <p:nvPr/>
        </p:nvSpPr>
        <p:spPr>
          <a:xfrm>
            <a:off x="6979615" y="18973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quick measures 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057400"/>
            <a:ext cx="4251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13/23</a:t>
            </a:r>
            <a:endParaRPr lang="en-US" sz="1000" dirty="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CEA7A4DB-B3CD-F465-571D-9BEDBE98B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0" y="54725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 the result clear?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 setup easy?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confusion?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Would you use this regularly?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9E6CF43-05AA-D1EE-FB70-E9C97B4FA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973" y="2732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success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alert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Summary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said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/>
              <a:t>Worked Well</a:t>
            </a:r>
          </a:p>
          <a:p>
            <a:r>
              <a:rPr lang="en-US" sz="1600" dirty="0"/>
              <a:t>Very fast results</a:t>
            </a:r>
          </a:p>
          <a:p>
            <a:r>
              <a:rPr lang="en-US" sz="1600" dirty="0"/>
              <a:t>Simple display</a:t>
            </a:r>
          </a:p>
          <a:p>
            <a:r>
              <a:rPr lang="en-US" sz="1600" dirty="0"/>
              <a:t>Easy to operate</a:t>
            </a:r>
          </a:p>
          <a:p>
            <a:r>
              <a:rPr lang="en-US" sz="1600" b="1" dirty="0"/>
              <a:t>Did Not Work</a:t>
            </a:r>
          </a:p>
          <a:p>
            <a:r>
              <a:rPr lang="en-US" sz="1600" dirty="0"/>
              <a:t>Sensitive to bright lighting</a:t>
            </a:r>
          </a:p>
          <a:p>
            <a:r>
              <a:rPr lang="en-US" sz="1600" dirty="0"/>
              <a:t>Needs protective casing</a:t>
            </a:r>
          </a:p>
          <a:p>
            <a:r>
              <a:rPr lang="en-US" sz="1600" b="1" dirty="0"/>
              <a:t>Confusing</a:t>
            </a:r>
          </a:p>
          <a:p>
            <a:r>
              <a:rPr lang="en-US" sz="1600" dirty="0"/>
              <a:t>Threshold calibration process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892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quotes 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057400"/>
            <a:ext cx="4251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600" dirty="0"/>
              <a:t>“Very fast compared to lab methods.” — User 1</a:t>
            </a:r>
            <a:br>
              <a:rPr lang="en-US" sz="1600" dirty="0"/>
            </a:br>
            <a:r>
              <a:rPr lang="en-US" sz="1600" dirty="0"/>
              <a:t>“Needs enclosure for stability.” — User 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29400" y="3886200"/>
            <a:ext cx="4892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41148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signals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452628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600" dirty="0"/>
              <a:t>Would use again: 5/6</a:t>
            </a:r>
            <a:br>
              <a:rPr lang="en-US" sz="1600" dirty="0"/>
            </a:br>
            <a:r>
              <a:rPr lang="en-US" sz="1600" dirty="0"/>
              <a:t>Recommend score: 8/10 average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Metrics (Target vs Actual)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dirty="0"/>
              <a:t> </a:t>
            </a:r>
            <a:endParaRPr dirty="0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2567864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183794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7984" y="1783080"/>
            <a:ext cx="1517374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37712" y="183794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45358" y="1783080"/>
            <a:ext cx="1517374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155086" y="183794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62732" y="1783080"/>
            <a:ext cx="1400653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672460" y="183794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3385" y="1783080"/>
            <a:ext cx="3268190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73113" y="183794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(slide/link/log)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2377440"/>
            <a:ext cx="2567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69848" y="243230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Detection Accuracy</a:t>
            </a:r>
          </a:p>
        </p:txBody>
      </p:sp>
      <p:sp>
        <p:nvSpPr>
          <p:cNvPr id="18" name="Shape 16"/>
          <p:cNvSpPr/>
          <p:nvPr/>
        </p:nvSpPr>
        <p:spPr>
          <a:xfrm>
            <a:off x="3527984" y="237744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dirty="0"/>
              <a:t>95%</a:t>
            </a:r>
            <a:endParaRPr dirty="0"/>
          </a:p>
        </p:txBody>
      </p:sp>
      <p:sp>
        <p:nvSpPr>
          <p:cNvPr id="19" name="Text 17"/>
          <p:cNvSpPr/>
          <p:nvPr/>
        </p:nvSpPr>
        <p:spPr>
          <a:xfrm>
            <a:off x="3637712" y="243230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5358" y="237744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dirty="0"/>
              <a:t>85%</a:t>
            </a:r>
            <a:endParaRPr dirty="0"/>
          </a:p>
        </p:txBody>
      </p:sp>
      <p:sp>
        <p:nvSpPr>
          <p:cNvPr id="21" name="Text 19"/>
          <p:cNvSpPr/>
          <p:nvPr/>
        </p:nvSpPr>
        <p:spPr>
          <a:xfrm>
            <a:off x="5155086" y="243230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62732" y="2377440"/>
            <a:ext cx="1400653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672460" y="243230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r>
              <a:rPr lang="en-US" sz="16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63385" y="2377440"/>
            <a:ext cx="326819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Test log – 20 sample runs</a:t>
            </a:r>
            <a:endParaRPr/>
          </a:p>
        </p:txBody>
      </p:sp>
      <p:sp>
        <p:nvSpPr>
          <p:cNvPr id="25" name="Text 23"/>
          <p:cNvSpPr/>
          <p:nvPr/>
        </p:nvSpPr>
        <p:spPr>
          <a:xfrm>
            <a:off x="8073113" y="243230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0120" y="2971800"/>
            <a:ext cx="2567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69848" y="302666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Detection Time</a:t>
            </a:r>
          </a:p>
        </p:txBody>
      </p:sp>
      <p:sp>
        <p:nvSpPr>
          <p:cNvPr id="28" name="Shape 26"/>
          <p:cNvSpPr/>
          <p:nvPr/>
        </p:nvSpPr>
        <p:spPr>
          <a:xfrm>
            <a:off x="3527984" y="297180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≤2 sec</a:t>
            </a:r>
            <a:endParaRPr/>
          </a:p>
        </p:txBody>
      </p:sp>
      <p:sp>
        <p:nvSpPr>
          <p:cNvPr id="29" name="Text 27"/>
          <p:cNvSpPr/>
          <p:nvPr/>
        </p:nvSpPr>
        <p:spPr>
          <a:xfrm>
            <a:off x="3637712" y="302666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45358" y="297180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1.8 sec</a:t>
            </a:r>
            <a:endParaRPr/>
          </a:p>
        </p:txBody>
      </p:sp>
      <p:sp>
        <p:nvSpPr>
          <p:cNvPr id="31" name="Text 29"/>
          <p:cNvSpPr/>
          <p:nvPr/>
        </p:nvSpPr>
        <p:spPr>
          <a:xfrm>
            <a:off x="5155086" y="302666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62732" y="2971800"/>
            <a:ext cx="1400653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672460" y="302666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7963385" y="2971800"/>
            <a:ext cx="326819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Demo video timing</a:t>
            </a:r>
            <a:endParaRPr/>
          </a:p>
        </p:txBody>
      </p:sp>
      <p:sp>
        <p:nvSpPr>
          <p:cNvPr id="35" name="Text 33"/>
          <p:cNvSpPr/>
          <p:nvPr/>
        </p:nvSpPr>
        <p:spPr>
          <a:xfrm>
            <a:off x="8073113" y="302666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0120" y="3566160"/>
            <a:ext cx="2567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069848" y="362102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False Alerts</a:t>
            </a:r>
          </a:p>
        </p:txBody>
      </p:sp>
      <p:sp>
        <p:nvSpPr>
          <p:cNvPr id="38" name="Shape 36"/>
          <p:cNvSpPr/>
          <p:nvPr/>
        </p:nvSpPr>
        <p:spPr>
          <a:xfrm>
            <a:off x="3527984" y="356616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637712" y="362102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45358" y="356616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155086" y="362102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62732" y="3566160"/>
            <a:ext cx="1400653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672460" y="362102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</a:t>
            </a: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7963385" y="3566160"/>
            <a:ext cx="326819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Room light test log</a:t>
            </a:r>
            <a:endParaRPr/>
          </a:p>
        </p:txBody>
      </p:sp>
      <p:sp>
        <p:nvSpPr>
          <p:cNvPr id="45" name="Text 43"/>
          <p:cNvSpPr/>
          <p:nvPr/>
        </p:nvSpPr>
        <p:spPr>
          <a:xfrm>
            <a:off x="8073113" y="362102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0120" y="4160520"/>
            <a:ext cx="2567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069848" y="421538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Reliability</a:t>
            </a:r>
          </a:p>
        </p:txBody>
      </p:sp>
      <p:sp>
        <p:nvSpPr>
          <p:cNvPr id="48" name="Shape 46"/>
          <p:cNvSpPr/>
          <p:nvPr/>
        </p:nvSpPr>
        <p:spPr>
          <a:xfrm>
            <a:off x="3527984" y="416052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1 hr stable</a:t>
            </a:r>
            <a:endParaRPr/>
          </a:p>
        </p:txBody>
      </p:sp>
      <p:sp>
        <p:nvSpPr>
          <p:cNvPr id="49" name="Text 47"/>
          <p:cNvSpPr/>
          <p:nvPr/>
        </p:nvSpPr>
        <p:spPr>
          <a:xfrm>
            <a:off x="3637712" y="421538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45358" y="416052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1 hr stable</a:t>
            </a:r>
            <a:endParaRPr/>
          </a:p>
        </p:txBody>
      </p:sp>
      <p:sp>
        <p:nvSpPr>
          <p:cNvPr id="51" name="Text 49"/>
          <p:cNvSpPr/>
          <p:nvPr/>
        </p:nvSpPr>
        <p:spPr>
          <a:xfrm>
            <a:off x="5155086" y="421538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562732" y="4160520"/>
            <a:ext cx="1400653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6672460" y="421538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7963385" y="4160520"/>
            <a:ext cx="326819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dirty="0"/>
              <a:t>Continuous run video</a:t>
            </a:r>
            <a:endParaRPr dirty="0"/>
          </a:p>
        </p:txBody>
      </p:sp>
      <p:sp>
        <p:nvSpPr>
          <p:cNvPr id="55" name="Text 53"/>
          <p:cNvSpPr/>
          <p:nvPr/>
        </p:nvSpPr>
        <p:spPr>
          <a:xfrm>
            <a:off x="8073113" y="421538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15/23</a:t>
            </a:r>
            <a:endParaRPr lang="en-US" sz="1000" dirty="0"/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378760C8-FF0D-A38F-4AAD-195DF2D14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00185"/>
              </p:ext>
            </p:extLst>
          </p:nvPr>
        </p:nvGraphicFramePr>
        <p:xfrm>
          <a:off x="5045358" y="3611880"/>
          <a:ext cx="1517374" cy="572294"/>
        </p:xfrm>
        <a:graphic>
          <a:graphicData uri="http://schemas.openxmlformats.org/drawingml/2006/table">
            <a:tbl>
              <a:tblPr/>
              <a:tblGrid>
                <a:gridCol w="1517374">
                  <a:extLst>
                    <a:ext uri="{9D8B030D-6E8A-4147-A177-3AD203B41FA5}">
                      <a16:colId xmlns:a16="http://schemas.microsoft.com/office/drawing/2014/main" val="3403220085"/>
                    </a:ext>
                  </a:extLst>
                </a:gridCol>
              </a:tblGrid>
              <a:tr h="572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35416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FF0C318F-79FF-B5F7-68DF-0DA88DE31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936408"/>
              </p:ext>
            </p:extLst>
          </p:nvPr>
        </p:nvGraphicFramePr>
        <p:xfrm>
          <a:off x="3527984" y="3542506"/>
          <a:ext cx="1475008" cy="641668"/>
        </p:xfrm>
        <a:graphic>
          <a:graphicData uri="http://schemas.openxmlformats.org/drawingml/2006/table">
            <a:tbl>
              <a:tblPr/>
              <a:tblGrid>
                <a:gridCol w="1475008">
                  <a:extLst>
                    <a:ext uri="{9D8B030D-6E8A-4147-A177-3AD203B41FA5}">
                      <a16:colId xmlns:a16="http://schemas.microsoft.com/office/drawing/2014/main" val="2381121619"/>
                    </a:ext>
                  </a:extLst>
                </a:gridCol>
              </a:tblGrid>
              <a:tr h="641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≤5%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2512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Log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1339755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1837944"/>
            <a:ext cx="112029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99875" y="1783080"/>
            <a:ext cx="2902803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409603" y="1837944"/>
            <a:ext cx="2683347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made</a:t>
            </a:r>
            <a:endParaRPr lang="en-US" sz="1600" b="1" dirty="0"/>
          </a:p>
        </p:txBody>
      </p:sp>
      <p:sp>
        <p:nvSpPr>
          <p:cNvPr id="10" name="Shape 8"/>
          <p:cNvSpPr/>
          <p:nvPr/>
        </p:nvSpPr>
        <p:spPr>
          <a:xfrm>
            <a:off x="5202678" y="1783080"/>
            <a:ext cx="3349388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12406" y="1837944"/>
            <a:ext cx="31299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52065" y="1783080"/>
            <a:ext cx="2679510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61793" y="1837944"/>
            <a:ext cx="246005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" y="2423160"/>
            <a:ext cx="1339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69848" y="2478024"/>
            <a:ext cx="112029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99875" y="2423160"/>
            <a:ext cx="2902803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Basic setup</a:t>
            </a:r>
            <a:endParaRPr/>
          </a:p>
        </p:txBody>
      </p:sp>
      <p:sp>
        <p:nvSpPr>
          <p:cNvPr id="17" name="Text 15"/>
          <p:cNvSpPr/>
          <p:nvPr/>
        </p:nvSpPr>
        <p:spPr>
          <a:xfrm>
            <a:off x="2409603" y="2478024"/>
            <a:ext cx="2683347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02678" y="2423160"/>
            <a:ext cx="33493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Initial testing</a:t>
            </a:r>
            <a:endParaRPr/>
          </a:p>
        </p:txBody>
      </p:sp>
      <p:sp>
        <p:nvSpPr>
          <p:cNvPr id="19" name="Text 17"/>
          <p:cNvSpPr/>
          <p:nvPr/>
        </p:nvSpPr>
        <p:spPr>
          <a:xfrm>
            <a:off x="5312406" y="2478024"/>
            <a:ext cx="31299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52065" y="2423160"/>
            <a:ext cx="267951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61793" y="2478024"/>
            <a:ext cx="246005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3063240"/>
            <a:ext cx="1339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69848" y="3118104"/>
            <a:ext cx="112029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299875" y="3063240"/>
            <a:ext cx="2902803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Enclosure added</a:t>
            </a:r>
            <a:endParaRPr/>
          </a:p>
        </p:txBody>
      </p:sp>
      <p:sp>
        <p:nvSpPr>
          <p:cNvPr id="25" name="Text 23"/>
          <p:cNvSpPr/>
          <p:nvPr/>
        </p:nvSpPr>
        <p:spPr>
          <a:xfrm>
            <a:off x="2409603" y="3118104"/>
            <a:ext cx="2683347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02678" y="3063240"/>
            <a:ext cx="33493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Reduce light noise</a:t>
            </a:r>
            <a:endParaRPr/>
          </a:p>
        </p:txBody>
      </p:sp>
      <p:sp>
        <p:nvSpPr>
          <p:cNvPr id="27" name="Text 25"/>
          <p:cNvSpPr/>
          <p:nvPr/>
        </p:nvSpPr>
        <p:spPr>
          <a:xfrm>
            <a:off x="5312406" y="3118104"/>
            <a:ext cx="31299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52065" y="3063240"/>
            <a:ext cx="267951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dirty="0"/>
              <a:t>90% accuracy</a:t>
            </a:r>
            <a:endParaRPr dirty="0"/>
          </a:p>
        </p:txBody>
      </p:sp>
      <p:sp>
        <p:nvSpPr>
          <p:cNvPr id="29" name="Text 27"/>
          <p:cNvSpPr/>
          <p:nvPr/>
        </p:nvSpPr>
        <p:spPr>
          <a:xfrm>
            <a:off x="8661793" y="3118104"/>
            <a:ext cx="246005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0120" y="3703320"/>
            <a:ext cx="1339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69848" y="3758184"/>
            <a:ext cx="112029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v2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299875" y="3703320"/>
            <a:ext cx="2902803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Signal averaging improved</a:t>
            </a:r>
            <a:endParaRPr/>
          </a:p>
        </p:txBody>
      </p:sp>
      <p:sp>
        <p:nvSpPr>
          <p:cNvPr id="33" name="Text 31"/>
          <p:cNvSpPr/>
          <p:nvPr/>
        </p:nvSpPr>
        <p:spPr>
          <a:xfrm>
            <a:off x="2409603" y="3758184"/>
            <a:ext cx="2683347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02678" y="3703320"/>
            <a:ext cx="33493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/>
              <a:t>Reduce false alerts</a:t>
            </a:r>
            <a:endParaRPr/>
          </a:p>
        </p:txBody>
      </p:sp>
      <p:sp>
        <p:nvSpPr>
          <p:cNvPr id="35" name="Text 33"/>
          <p:cNvSpPr/>
          <p:nvPr/>
        </p:nvSpPr>
        <p:spPr>
          <a:xfrm>
            <a:off x="5312406" y="3758184"/>
            <a:ext cx="31299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52065" y="3703320"/>
            <a:ext cx="267951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661793" y="3758184"/>
            <a:ext cx="246005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17/23</a:t>
            </a:r>
            <a:endParaRPr lang="en-US" sz="1000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6E116734-CB73-ACA1-48EB-F8C66220303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3295646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19476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A59212C2-9073-FDD5-2133-CF0ED9FDB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883056"/>
              </p:ext>
            </p:extLst>
          </p:nvPr>
        </p:nvGraphicFramePr>
        <p:xfrm>
          <a:off x="8567001" y="2446260"/>
          <a:ext cx="2801734" cy="365760"/>
        </p:xfrm>
        <a:graphic>
          <a:graphicData uri="http://schemas.openxmlformats.org/drawingml/2006/table">
            <a:tbl>
              <a:tblPr/>
              <a:tblGrid>
                <a:gridCol w="2801734">
                  <a:extLst>
                    <a:ext uri="{9D8B030D-6E8A-4147-A177-3AD203B41FA5}">
                      <a16:colId xmlns:a16="http://schemas.microsoft.com/office/drawing/2014/main" val="1051463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85%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186653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C77B5227-E4A2-6473-F805-EC20014E7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039513"/>
              </p:ext>
            </p:extLst>
          </p:nvPr>
        </p:nvGraphicFramePr>
        <p:xfrm>
          <a:off x="8552064" y="3726420"/>
          <a:ext cx="2801736" cy="365760"/>
        </p:xfrm>
        <a:graphic>
          <a:graphicData uri="http://schemas.openxmlformats.org/drawingml/2006/table">
            <a:tbl>
              <a:tblPr/>
              <a:tblGrid>
                <a:gridCol w="2801736">
                  <a:extLst>
                    <a:ext uri="{9D8B030D-6E8A-4147-A177-3AD203B41FA5}">
                      <a16:colId xmlns:a16="http://schemas.microsoft.com/office/drawing/2014/main" val="3393974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Faster 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2162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Pain-Point Proof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4057859" cy="7772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1837944"/>
            <a:ext cx="3838403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pain point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17979" y="1783080"/>
            <a:ext cx="4438283" cy="7772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127707" y="1837944"/>
            <a:ext cx="4218827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evidence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456262" y="1783080"/>
            <a:ext cx="1775313" cy="7772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565990" y="1837944"/>
            <a:ext cx="1555857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2560320"/>
            <a:ext cx="4057859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69848" y="2615184"/>
            <a:ext cx="3838403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Slow and costly microplastic detection.</a:t>
            </a:r>
          </a:p>
        </p:txBody>
      </p:sp>
      <p:sp>
        <p:nvSpPr>
          <p:cNvPr id="14" name="Shape 12"/>
          <p:cNvSpPr/>
          <p:nvPr/>
        </p:nvSpPr>
        <p:spPr>
          <a:xfrm>
            <a:off x="5017979" y="2560320"/>
            <a:ext cx="4438283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127707" y="2615184"/>
            <a:ext cx="4218827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Detection time reduced from hours → 2 seconds</a:t>
            </a:r>
            <a:r>
              <a:rPr lang="en-US" sz="1200" dirty="0"/>
              <a:t>.</a:t>
            </a:r>
          </a:p>
        </p:txBody>
      </p:sp>
      <p:sp>
        <p:nvSpPr>
          <p:cNvPr id="16" name="Shape 14"/>
          <p:cNvSpPr/>
          <p:nvPr/>
        </p:nvSpPr>
        <p:spPr>
          <a:xfrm>
            <a:off x="9456262" y="2560320"/>
            <a:ext cx="1775313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565990" y="2615184"/>
            <a:ext cx="1555857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3055" y="2606040"/>
            <a:ext cx="99985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Conclusion:</a:t>
            </a:r>
            <a:br>
              <a:rPr lang="en-US" dirty="0"/>
            </a:br>
            <a:r>
              <a:rPr lang="en-US" dirty="0"/>
              <a:t>Based on MVP evidence, our solution significantly reduces detection time but needs accuracy improvement before large-scale deployment.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Bundle (What to capture)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/ photos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t>MVP in use (with consent)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t>Key screens / flows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t>Hardware deployed / setup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t>Error cases (if any)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892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/ data / forms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057400"/>
            <a:ext cx="4251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t>Usage logs / session counts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t>Key Performance Indicator (KPI) measurements table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t>Feedback form export (anonymized)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t>Consent record (sample)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t>Iteration notes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(MP4 ≤ 2 minutes) + Artifacts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0208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demo script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340864"/>
            <a:ext cx="5120640" cy="3648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buSzPct val="100000"/>
            </a:pPr>
            <a:r>
              <a:rPr lang="en-US" sz="1600" dirty="0"/>
              <a:t>0:00 – Problem: Microplastics need lab detection.</a:t>
            </a:r>
            <a:br>
              <a:rPr lang="en-US" sz="1600" dirty="0"/>
            </a:br>
            <a:r>
              <a:rPr lang="en-US" sz="1600" dirty="0"/>
              <a:t>0:20 – Show device setup</a:t>
            </a:r>
            <a:br>
              <a:rPr lang="en-US" sz="1600" dirty="0"/>
            </a:br>
            <a:r>
              <a:rPr lang="en-US" sz="1600" dirty="0"/>
              <a:t>0:40 – Test clean water</a:t>
            </a:r>
            <a:br>
              <a:rPr lang="en-US" sz="1600" dirty="0"/>
            </a:br>
            <a:r>
              <a:rPr lang="en-US" sz="1600" dirty="0"/>
              <a:t>1:00 – Add plastic → show detection</a:t>
            </a:r>
            <a:br>
              <a:rPr lang="en-US" sz="1600" dirty="0"/>
            </a:br>
            <a:r>
              <a:rPr lang="en-US" sz="1600" dirty="0"/>
              <a:t>1:30 – Show metric comparison</a:t>
            </a:r>
            <a:br>
              <a:rPr lang="en-US" sz="1600" dirty="0"/>
            </a:br>
            <a:r>
              <a:rPr lang="en-US" sz="1600" dirty="0"/>
              <a:t>1:45 – Mention feedback + iteration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66560" y="1211580"/>
            <a:ext cx="4892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0" y="2284615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619895"/>
            <a:ext cx="4251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link: https://github.com/Sibithra/Detection-of-Microplastics-in-Water-</a:t>
            </a:r>
            <a:endParaRPr lang="en-US" sz="1500" dirty="0"/>
          </a:p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 : https://www.kapwing.com/videos/69a4f7c34c95423eb3e0bf77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Next Steps &amp; Direction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&amp; mitigations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Ambient light interference → optical chamber</a:t>
            </a:r>
          </a:p>
          <a:p>
            <a:r>
              <a:rPr lang="en-US" sz="1600" dirty="0"/>
              <a:t>Signal drift → auto-calibration</a:t>
            </a:r>
          </a:p>
          <a:p>
            <a:r>
              <a:rPr lang="en-US" sz="1600" dirty="0"/>
              <a:t>Limited accuracy → advanced filtering</a:t>
            </a:r>
          </a:p>
          <a:p>
            <a:pPr>
              <a:lnSpc>
                <a:spcPct val="115000"/>
              </a:lnSpc>
              <a:buSzPct val="100000"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4434840"/>
            <a:ext cx="5760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50749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REFINE (partial)  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29400" y="1417320"/>
            <a:ext cx="4892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057400"/>
            <a:ext cx="4251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Improve enclosure</a:t>
            </a:r>
          </a:p>
          <a:p>
            <a:r>
              <a:rPr lang="en-US" sz="1600" dirty="0"/>
              <a:t>Increase test sample size</a:t>
            </a:r>
          </a:p>
          <a:p>
            <a:r>
              <a:rPr lang="en-US" sz="1600" dirty="0"/>
              <a:t>Improve threshold algorithm</a:t>
            </a:r>
          </a:p>
          <a:p>
            <a:r>
              <a:rPr lang="en-US" sz="1600" dirty="0"/>
              <a:t>Target ≥95% accuracy</a:t>
            </a:r>
          </a:p>
          <a:p>
            <a:pPr>
              <a:lnSpc>
                <a:spcPct val="115000"/>
              </a:lnSpc>
              <a:buSzPct val="100000"/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references here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18001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/>
              <a:t>[1]</a:t>
            </a:r>
            <a:r>
              <a:rPr lang="en-US" sz="1600" dirty="0"/>
              <a:t> NIH Research Matters, “Plastic particles in bottled water,” National Institutes of Health, 2024. [Online]. Available: </a:t>
            </a:r>
            <a:r>
              <a:rPr lang="en-US" sz="1600" dirty="0">
                <a:hlinkClick r:id="rId3"/>
              </a:rPr>
              <a:t>https://www.nih.gov/news-events/nih-research-matters/plastic-particles-bottled-water</a:t>
            </a:r>
            <a:r>
              <a:rPr lang="en-US" sz="1600" dirty="0"/>
              <a:t>. [Accessed: Jan. 20, 2026].</a:t>
            </a:r>
          </a:p>
          <a:p>
            <a:r>
              <a:rPr lang="en-US" sz="1600" b="1" dirty="0"/>
              <a:t>[2]</a:t>
            </a:r>
            <a:r>
              <a:rPr lang="en-US" sz="1600" dirty="0"/>
              <a:t> A. Shrivastava </a:t>
            </a:r>
            <a:r>
              <a:rPr lang="en-US" sz="1600" i="1" dirty="0"/>
              <a:t>et al.</a:t>
            </a:r>
            <a:r>
              <a:rPr lang="en-US" sz="1600" dirty="0"/>
              <a:t>, “Microplastics in drinking water: Detection and challenges,” </a:t>
            </a:r>
            <a:r>
              <a:rPr lang="en-US" sz="1600" i="1" dirty="0"/>
              <a:t>Sensors</a:t>
            </a:r>
            <a:r>
              <a:rPr lang="en-US" sz="1600" dirty="0"/>
              <a:t>, vol. 4, no. 2, 2024. [Online]. Available: </a:t>
            </a:r>
            <a:r>
              <a:rPr lang="en-US" sz="1600" dirty="0">
                <a:hlinkClick r:id="rId4"/>
              </a:rPr>
              <a:t>https://www.mdpi.com/2673-8929/4/2/24</a:t>
            </a:r>
            <a:r>
              <a:rPr lang="en-US" sz="1600" dirty="0"/>
              <a:t>. [Accessed: Jan. 20, 2026].</a:t>
            </a:r>
          </a:p>
          <a:p>
            <a:r>
              <a:rPr lang="en-US" sz="1600" b="1" dirty="0"/>
              <a:t>[3]</a:t>
            </a:r>
            <a:r>
              <a:rPr lang="en-US" sz="1600" dirty="0"/>
              <a:t> Deutsche Welle, “Bottled water not safe from microplastic contamination,” 2018. [Online]. Available: </a:t>
            </a:r>
            <a:r>
              <a:rPr lang="en-US" sz="1600" dirty="0">
                <a:hlinkClick r:id="rId5"/>
              </a:rPr>
              <a:t>https://www.dw.com/en/bottled-water-not-safe-from-microplastic-contamination/a-42936246</a:t>
            </a:r>
            <a:r>
              <a:rPr lang="en-US" sz="1600" dirty="0"/>
              <a:t>. [Accessed: Jan. 20, 2026].</a:t>
            </a:r>
          </a:p>
          <a:p>
            <a:r>
              <a:rPr lang="en-US" sz="1600" b="1" dirty="0"/>
              <a:t>[4]</a:t>
            </a:r>
            <a:r>
              <a:rPr lang="en-US" sz="1600" dirty="0"/>
              <a:t> S. </a:t>
            </a:r>
            <a:r>
              <a:rPr lang="en-US" sz="1600" dirty="0" err="1"/>
              <a:t>Mintenig</a:t>
            </a:r>
            <a:r>
              <a:rPr lang="en-US" sz="1600" dirty="0"/>
              <a:t> </a:t>
            </a:r>
            <a:r>
              <a:rPr lang="en-US" sz="1600" i="1" dirty="0"/>
              <a:t>et al.</a:t>
            </a:r>
            <a:r>
              <a:rPr lang="en-US" sz="1600" dirty="0"/>
              <a:t>, “Low numbers of microplastics detected in drinking water,” </a:t>
            </a:r>
            <a:r>
              <a:rPr lang="en-US" sz="1600" i="1" dirty="0"/>
              <a:t>Water Research</a:t>
            </a:r>
            <a:r>
              <a:rPr lang="en-US" sz="1600" dirty="0"/>
              <a:t>, vol. 142, pp. 488–495, 2019. [Online]. Available: </a:t>
            </a:r>
            <a:r>
              <a:rPr lang="en-US" sz="1600" dirty="0">
                <a:hlinkClick r:id="rId6"/>
              </a:rPr>
              <a:t>https://www.sciencedirect.com/science/article/pii/S0043135419301794</a:t>
            </a:r>
            <a:r>
              <a:rPr lang="en-US" sz="1600" dirty="0"/>
              <a:t>. [Accessed: Jan. 20, 2026].</a:t>
            </a:r>
          </a:p>
          <a:p>
            <a:r>
              <a:rPr lang="en-US" sz="1600" b="1" dirty="0"/>
              <a:t>[5]</a:t>
            </a:r>
            <a:r>
              <a:rPr lang="en-US" sz="1600" dirty="0"/>
              <a:t> PubMed, “Microplastic exposure via drinking water,” PubMed ID: 38537794, 2024. [Online]. Available: </a:t>
            </a:r>
            <a:r>
              <a:rPr lang="en-US" sz="1600" dirty="0">
                <a:hlinkClick r:id="rId7"/>
              </a:rPr>
              <a:t>https://pubmed.ncbi.nlm.nih.gov/38537794/</a:t>
            </a:r>
            <a:r>
              <a:rPr lang="en-US" sz="1600" dirty="0"/>
              <a:t>. [Accessed: Jan. 20, 2026].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348401b-810c-410e-b8eb-6ff04b2b747f">
      <Terms xmlns="http://schemas.microsoft.com/office/infopath/2007/PartnerControls"/>
    </lcf76f155ced4ddcb4097134ff3c332f>
    <TaxCatchAll xmlns="06450489-62f6-413e-8592-e63214e705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87AE85E340D941B9801BD6724F0635" ma:contentTypeVersion="10" ma:contentTypeDescription="Create a new document." ma:contentTypeScope="" ma:versionID="713f2a0e68724d8135e14c835efcf21e">
  <xsd:schema xmlns:xsd="http://www.w3.org/2001/XMLSchema" xmlns:xs="http://www.w3.org/2001/XMLSchema" xmlns:p="http://schemas.microsoft.com/office/2006/metadata/properties" xmlns:ns2="a348401b-810c-410e-b8eb-6ff04b2b747f" xmlns:ns3="06450489-62f6-413e-8592-e63214e70580" targetNamespace="http://schemas.microsoft.com/office/2006/metadata/properties" ma:root="true" ma:fieldsID="a6c747652182e79a0ee424c38baf6f53" ns2:_="" ns3:_="">
    <xsd:import namespace="a348401b-810c-410e-b8eb-6ff04b2b747f"/>
    <xsd:import namespace="06450489-62f6-413e-8592-e63214e705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48401b-810c-410e-b8eb-6ff04b2b74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7d36ee0-516a-46d7-9c37-891188aa7a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450489-62f6-413e-8592-e63214e7058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6d84e43-86d1-4cbe-b16c-19b161e7d2a8}" ma:internalName="TaxCatchAll" ma:showField="CatchAllData" ma:web="06450489-62f6-413e-8592-e63214e705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FFA083-FFD4-40FB-998B-79EF5A574EA8}">
  <ds:schemaRefs>
    <ds:schemaRef ds:uri="http://schemas.microsoft.com/office/2006/metadata/properties"/>
    <ds:schemaRef ds:uri="http://schemas.microsoft.com/office/infopath/2007/PartnerControls"/>
    <ds:schemaRef ds:uri="a348401b-810c-410e-b8eb-6ff04b2b747f"/>
    <ds:schemaRef ds:uri="06450489-62f6-413e-8592-e63214e70580"/>
  </ds:schemaRefs>
</ds:datastoreItem>
</file>

<file path=customXml/itemProps2.xml><?xml version="1.0" encoding="utf-8"?>
<ds:datastoreItem xmlns:ds="http://schemas.openxmlformats.org/officeDocument/2006/customXml" ds:itemID="{602331A1-76D6-4A69-9191-4889AF1FB4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910B34-80D0-4CB5-9C96-EF147720D9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48401b-810c-410e-b8eb-6ff04b2b747f"/>
    <ds:schemaRef ds:uri="06450489-62f6-413e-8592-e63214e705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1469</Words>
  <Application>Microsoft Office PowerPoint</Application>
  <PresentationFormat>Widescreen</PresentationFormat>
  <Paragraphs>310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KGISL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 MVP Stage Template</dc:title>
  <dc:subject>SoI MVP Stage Submission Deck Template</dc:subject>
  <dc:creator>Thiruvaazhi Uloli</dc:creator>
  <cp:lastModifiedBy>sibithra v</cp:lastModifiedBy>
  <cp:revision>4</cp:revision>
  <dcterms:created xsi:type="dcterms:W3CDTF">2026-02-11T11:27:36Z</dcterms:created>
  <dcterms:modified xsi:type="dcterms:W3CDTF">2026-03-20T10:46:20Z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0x0101009687AE85E340D941B9801BD6724F0635</vt:lpwstr>
  </property>
</Properties>
</file>