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72" r:id="rId8"/>
    <p:sldId id="271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27" autoAdjust="0"/>
  </p:normalViewPr>
  <p:slideViewPr>
    <p:cSldViewPr snapToGrid="0" snapToObjects="1">
      <p:cViewPr varScale="1">
        <p:scale>
          <a:sx n="61" d="100"/>
          <a:sy n="61" d="100"/>
        </p:scale>
        <p:origin x="16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thra v" userId="028e6d356b201339" providerId="LiveId" clId="{93A1AED5-2762-446B-9BF4-5F8FA22B0C75}"/>
    <pc:docChg chg="undo custSel addSld delSld modSld">
      <pc:chgData name="sibithra v" userId="028e6d356b201339" providerId="LiveId" clId="{93A1AED5-2762-446B-9BF4-5F8FA22B0C75}" dt="2026-03-20T06:45:17.991" v="460" actId="20577"/>
      <pc:docMkLst>
        <pc:docMk/>
      </pc:docMkLst>
      <pc:sldChg chg="addSp delSp modSp mod">
        <pc:chgData name="sibithra v" userId="028e6d356b201339" providerId="LiveId" clId="{93A1AED5-2762-446B-9BF4-5F8FA22B0C75}" dt="2026-03-20T06:45:17.991" v="460" actId="20577"/>
        <pc:sldMkLst>
          <pc:docMk/>
          <pc:sldMk cId="0" sldId="262"/>
        </pc:sldMkLst>
        <pc:spChg chg="mod">
          <ac:chgData name="sibithra v" userId="028e6d356b201339" providerId="LiveId" clId="{93A1AED5-2762-446B-9BF4-5F8FA22B0C75}" dt="2026-03-20T06:41:45.720" v="451" actId="1076"/>
          <ac:spMkLst>
            <pc:docMk/>
            <pc:sldMk cId="0" sldId="262"/>
            <ac:spMk id="4" creationId="{B22626DC-FD7A-B3E2-9447-5C1BB71260A6}"/>
          </ac:spMkLst>
        </pc:spChg>
        <pc:spChg chg="mod">
          <ac:chgData name="sibithra v" userId="028e6d356b201339" providerId="LiveId" clId="{93A1AED5-2762-446B-9BF4-5F8FA22B0C75}" dt="2026-03-20T06:45:17.991" v="460" actId="20577"/>
          <ac:spMkLst>
            <pc:docMk/>
            <pc:sldMk cId="0" sldId="262"/>
            <ac:spMk id="27" creationId="{081102AD-6D4C-5069-2DDC-EFEFBC634F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15238-3340-4201-8CD1-D927B738034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5044-0B14-4C09-AFF5-756894BF1E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3–5 success criteria before building. Use measurable targets (e.g., accuracy ≥90%, latency ≤1s).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5044-0B14-4C09-AFF5-756894BF1E5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8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 short, focused sprints. Keep the PoC within a few weeks. Update status as you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only what is necessary to prove the concept (hardware, datasets, APIs, cloud credits, software,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Attach graphs/screens, include data tables where possible. Link raw logs/notebooks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technical, safety, privacy, compliance, and supply risks. Address early showstoppers.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673-8929/4/2/24?utm_source" TargetMode="External"/><Relationship Id="rId2" Type="http://schemas.openxmlformats.org/officeDocument/2006/relationships/hyperlink" Target="https://www.nih.gov/news-events/nih-research-matters/plastic-particles-bottled-water?utm_sour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38537794/" TargetMode="External"/><Relationship Id="rId5" Type="http://schemas.openxmlformats.org/officeDocument/2006/relationships/hyperlink" Target="https://www.sciencedirect.com/science/article/pii/S0043135419301794" TargetMode="External"/><Relationship Id="rId4" Type="http://schemas.openxmlformats.org/officeDocument/2006/relationships/hyperlink" Target="https://www.dw.com/en/bottled-water-not-safe-from-microplastic-contamination/a-42936246?utm_sourc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now.io/f/PpMFvx7" TargetMode="External"/><Relationship Id="rId2" Type="http://schemas.openxmlformats.org/officeDocument/2006/relationships/hyperlink" Target="https://github.com/Sibithra/Detection-of-Microplastics-in-Water-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SoI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— Proof of Concept (PoC) Stage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343527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Team: The Spark  </a:t>
            </a:r>
          </a:p>
          <a:p>
            <a:pPr algn="l" defTabSz="914400"/>
            <a:r>
              <a:rPr lang="en-US" sz="2800" dirty="0">
                <a:solidFill>
                  <a:schemeClr val="tx1"/>
                </a:solidFill>
              </a:rPr>
              <a:t>Lead: Sibithra V  </a:t>
            </a:r>
          </a:p>
          <a:p>
            <a:pPr algn="l" defTabSz="914400"/>
            <a:r>
              <a:rPr lang="en-US" sz="2800" dirty="0">
                <a:solidFill>
                  <a:schemeClr val="tx1"/>
                </a:solidFill>
              </a:rPr>
              <a:t>Members: Sakthivel V, Shri         </a:t>
            </a:r>
            <a:r>
              <a:rPr lang="en-US" sz="2800" dirty="0" err="1">
                <a:solidFill>
                  <a:schemeClr val="tx1"/>
                </a:solidFill>
              </a:rPr>
              <a:t>krishnamoorthi</a:t>
            </a:r>
            <a:r>
              <a:rPr lang="en-US" sz="2800" dirty="0">
                <a:solidFill>
                  <a:schemeClr val="tx1"/>
                </a:solidFill>
              </a:rPr>
              <a:t> S, Viviksha K, </a:t>
            </a:r>
          </a:p>
          <a:p>
            <a:pPr algn="l"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Arun 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Mentor: Sriram |  </a:t>
            </a:r>
            <a:r>
              <a:rPr lang="en-US" sz="2800" dirty="0" err="1">
                <a:solidFill>
                  <a:schemeClr val="tx1"/>
                </a:solidFill>
              </a:rPr>
              <a:t>SoI</a:t>
            </a:r>
            <a:r>
              <a:rPr lang="en-US" sz="2800" dirty="0">
                <a:solidFill>
                  <a:schemeClr val="tx1"/>
                </a:solidFill>
              </a:rPr>
              <a:t> Lab Code: EI|  Cohort</a:t>
            </a:r>
            <a:r>
              <a:rPr lang="en-US" sz="2800">
                <a:solidFill>
                  <a:schemeClr val="tx1"/>
                </a:solidFill>
              </a:rPr>
              <a:t>: 2024-28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1" name="Graphic 20" descr="Box">
            <a:extLst>
              <a:ext uri="{FF2B5EF4-FFF2-40B4-BE49-F238E27FC236}">
                <a16:creationId xmlns:a16="http://schemas.microsoft.com/office/drawing/2014/main" id="{34B26279-4573-78AE-7346-A16EC8DA5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3848"/>
            <a:ext cx="8229600" cy="49595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The increasing presence of microplastics in water sources and drinking supplies poses serious risks to health and the environment. Despite advances in water treatment, no cost-effective and efficient system currently exists to detect and quantify microplastics in real time. This lack of monitoring threatens water safety and weakens public trust.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End‑User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772"/>
            <a:ext cx="8229600" cy="4833391"/>
          </a:xfrm>
        </p:spPr>
        <p:txBody>
          <a:bodyPr>
            <a:normAutofit/>
          </a:bodyPr>
          <a:lstStyle/>
          <a:p>
            <a:r>
              <a:rPr lang="en-US" b="1" dirty="0"/>
              <a:t>Target End-User: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Who</a:t>
            </a:r>
            <a:r>
              <a:rPr lang="en-US" dirty="0"/>
              <a:t> — Water treatment plants, municipal water boards, environmental monitoring agencies, research labs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Where</a:t>
            </a:r>
            <a:r>
              <a:rPr lang="en-US" dirty="0"/>
              <a:t> — Real-time monitoring points in treatment facilities, reservoirs, rivers, industrial discharge outlets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When</a:t>
            </a:r>
            <a:r>
              <a:rPr lang="en-US" dirty="0"/>
              <a:t> — During continuous water purification and regulatory compliance checks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4604-87DA-72AD-F2ED-5F789B00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87E6-F260-23F6-3B43-793585FAA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Evidence:</a:t>
            </a:r>
            <a:br>
              <a:rPr lang="en-US" dirty="0"/>
            </a:br>
            <a:r>
              <a:rPr lang="en-US" dirty="0"/>
              <a:t>• Studies show microplastics detected in &gt;90% of sampled bottled and tap water worldwide</a:t>
            </a:r>
            <a:br>
              <a:rPr lang="en-US" dirty="0"/>
            </a:br>
            <a:r>
              <a:rPr lang="en-US" dirty="0"/>
              <a:t>• Current detection methods take hours–days in laboratory settings and require costly instruments, preventing real-time corrective action</a:t>
            </a:r>
          </a:p>
          <a:p>
            <a:r>
              <a:rPr lang="en-US" dirty="0">
                <a:hlinkClick r:id="rId2"/>
              </a:rPr>
              <a:t>https://www.nih.gov/news-events/nih-research-matters/plastic-particles-bottled-water?utm_source</a:t>
            </a:r>
            <a:endParaRPr lang="en-US" dirty="0"/>
          </a:p>
          <a:p>
            <a:r>
              <a:rPr lang="en-US" dirty="0">
                <a:hlinkClick r:id="rId3"/>
              </a:rPr>
              <a:t>https://www.mdpi.com/2673-8929/4/2/24?utm_source</a:t>
            </a:r>
            <a:endParaRPr lang="en-US" dirty="0"/>
          </a:p>
          <a:p>
            <a:r>
              <a:rPr lang="en-US" dirty="0">
                <a:hlinkClick r:id="rId4"/>
              </a:rPr>
              <a:t>https://www.dw.com/en/bottled-water-not-safe-from-microplastic-contamination/a-42936246?utm_source</a:t>
            </a:r>
            <a:endParaRPr lang="en-US" dirty="0"/>
          </a:p>
          <a:p>
            <a:r>
              <a:rPr lang="en-US" dirty="0">
                <a:hlinkClick r:id="rId5"/>
              </a:rPr>
              <a:t>https://www.sciencedirect.com/science/article/pii/S0043135419301794</a:t>
            </a:r>
            <a:endParaRPr lang="en-US" dirty="0"/>
          </a:p>
          <a:p>
            <a:r>
              <a:rPr lang="en-US" dirty="0">
                <a:hlinkClick r:id="rId6"/>
              </a:rPr>
              <a:t>https://pubmed.ncbi.nlm.nih.gov/38537794/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09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A05B-8CE2-D03E-AE79-94C9334E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 Metrics for the End-User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A0FB-7018-F791-9CEF-05DD2EC8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Time saved:</a:t>
            </a:r>
            <a:r>
              <a:rPr lang="en-US" dirty="0"/>
              <a:t> Real-time or near-instant detection vs. hours/days of lab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Error reduced:</a:t>
            </a:r>
            <a:r>
              <a:rPr lang="en-US" dirty="0"/>
              <a:t> Higher accuracy and repeatability compared to manual sampling and lab processing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Cost lowered:</a:t>
            </a:r>
            <a:r>
              <a:rPr lang="en-US" dirty="0"/>
              <a:t> Reduced labor, testing, and compliance costs via automated on-site monitoring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Risk lowered:</a:t>
            </a:r>
            <a:r>
              <a:rPr lang="en-US" dirty="0"/>
              <a:t> Earlier contamination detection , improved safety and reduced regulatory penalties</a:t>
            </a:r>
          </a:p>
        </p:txBody>
      </p:sp>
    </p:spTree>
    <p:extLst>
      <p:ext uri="{BB962C8B-B14F-4D97-AF65-F5344CB8AC3E}">
        <p14:creationId xmlns:p14="http://schemas.microsoft.com/office/powerpoint/2010/main" val="302615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Selected Idea Recap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2000" dirty="0"/>
              <a:t>Concept Summary: </a:t>
            </a:r>
          </a:p>
          <a:p>
            <a:pPr marL="0" indent="0" algn="just">
              <a:lnSpc>
                <a:spcPct val="110000"/>
              </a:lnSpc>
              <a:buNone/>
              <a:defRPr sz="1800"/>
            </a:pPr>
            <a:r>
              <a:rPr lang="en-US" sz="2000" dirty="0"/>
              <a:t>                  Microplastics are widespread in rivers, oceans, and drinking water, with studies showing up to 80% of global tap water contaminated. Current detection methods are accurate but slow, costly, and lab-dependent. A proposed solution is a portable, low-cost system using sensor technologies, microfluidics, and AI to enable quick and reliable microplastic detection.</a:t>
            </a:r>
          </a:p>
          <a:p>
            <a:pPr marL="0" indent="0" algn="just">
              <a:buNone/>
              <a:defRPr sz="1800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2000" dirty="0"/>
              <a:t>Key Features: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/>
              <a:t>    </a:t>
            </a:r>
            <a:r>
              <a:rPr lang="en-US" altLang="en-US" sz="2800" dirty="0"/>
              <a:t>-</a:t>
            </a:r>
            <a:r>
              <a:rPr lang="en-US" altLang="en-US" sz="2000" dirty="0"/>
              <a:t>Low Cost – Affordable sensors for large-scale monitoring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      -Portable – On-site testing anytime, anywhere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      -Fast Results – Quick detection within hours</a:t>
            </a:r>
          </a:p>
          <a:p>
            <a:pPr marL="0" indent="0">
              <a:buNone/>
              <a:defRPr sz="1800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2000" dirty="0"/>
              <a:t>Value Proposition:</a:t>
            </a:r>
          </a:p>
          <a:p>
            <a:pPr marL="0" indent="0">
              <a:buNone/>
              <a:defRPr sz="1800"/>
            </a:pPr>
            <a:r>
              <a:rPr lang="en-US" sz="2000" dirty="0"/>
              <a:t>             Low cost parts are enough for more accuracy and it can able to give fast results within &lt;=2 seconds. System can be stable &lt;=24 hours.</a:t>
            </a:r>
            <a:br>
              <a:rPr lang="en-US" sz="2000" dirty="0"/>
            </a:br>
            <a:r>
              <a:rPr lang="en-US" sz="2000" dirty="0"/>
              <a:t>   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PoC Objectives &amp; Success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721646"/>
              </p:ext>
            </p:extLst>
          </p:nvPr>
        </p:nvGraphicFramePr>
        <p:xfrm>
          <a:off x="472966" y="1417638"/>
          <a:ext cx="821383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Critical Assumption /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Test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Sensor can detect microplastics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Signal change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Visible difference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 vs spiked water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Low-cost parts are enough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≥ 80%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with reference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Detection must be fast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≤ 2 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flowing water and check display response time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System must be stable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Drift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over 24 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 device ON for 24 hours and record readings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Output must be clear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understanding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errors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to 5–10 users and check if they interpret correctly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Scope, Assumptions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 Scope:</a:t>
            </a:r>
            <a:r>
              <a:rPr lang="en-US" dirty="0"/>
              <a:t> Real-time microplastic detection using low-cost sensor + OLED display</a:t>
            </a:r>
            <a:br>
              <a:rPr lang="en-US" dirty="0"/>
            </a:br>
            <a:r>
              <a:rPr lang="en-US" b="1" dirty="0"/>
              <a:t>Out of Scope:</a:t>
            </a:r>
            <a:r>
              <a:rPr lang="en-US" dirty="0"/>
              <a:t> Classification, large-scale deployment, cloud or filtration integration</a:t>
            </a:r>
            <a:br>
              <a:rPr lang="en-US" dirty="0"/>
            </a:br>
            <a:r>
              <a:rPr lang="en-US" b="1" dirty="0"/>
              <a:t>Assumptions:</a:t>
            </a:r>
            <a:r>
              <a:rPr lang="en-US" dirty="0"/>
              <a:t> Test water available, indoor use, basic user skill</a:t>
            </a:r>
            <a:br>
              <a:rPr lang="en-US" dirty="0"/>
            </a:br>
            <a:r>
              <a:rPr lang="en-US" b="1" dirty="0"/>
              <a:t>Constraints:</a:t>
            </a:r>
            <a:r>
              <a:rPr lang="en-US" dirty="0"/>
              <a:t> Limited budget/time, no advanced lab, safety required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2626DC-FD7A-B3E2-9447-5C1BB7126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90845"/>
            <a:ext cx="8229600" cy="713561"/>
          </a:xfrm>
        </p:spPr>
        <p:txBody>
          <a:bodyPr>
            <a:noAutofit/>
          </a:bodyPr>
          <a:lstStyle/>
          <a:p>
            <a:r>
              <a:rPr lang="en-US" sz="3600" dirty="0"/>
              <a:t>System Overview — Architecture /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47DF3D-F900-C5B4-F850-178BB4571DD9}"/>
              </a:ext>
            </a:extLst>
          </p:cNvPr>
          <p:cNvSpPr/>
          <p:nvPr/>
        </p:nvSpPr>
        <p:spPr>
          <a:xfrm>
            <a:off x="2944103" y="844134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Water sample collection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45E9CC-F81A-CAF2-2D60-59D5E3FD3045}"/>
              </a:ext>
            </a:extLst>
          </p:cNvPr>
          <p:cNvSpPr/>
          <p:nvPr/>
        </p:nvSpPr>
        <p:spPr>
          <a:xfrm>
            <a:off x="2944103" y="1659206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Laser light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C659A3-3C66-7EB0-5117-FE282F006236}"/>
              </a:ext>
            </a:extLst>
          </p:cNvPr>
          <p:cNvSpPr/>
          <p:nvPr/>
        </p:nvSpPr>
        <p:spPr>
          <a:xfrm>
            <a:off x="2944103" y="2474279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Photodiode sensor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D7C766-DEA3-072B-F951-5FFF9BDEE343}"/>
              </a:ext>
            </a:extLst>
          </p:cNvPr>
          <p:cNvSpPr/>
          <p:nvPr/>
        </p:nvSpPr>
        <p:spPr>
          <a:xfrm>
            <a:off x="2944103" y="3312465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LM358 Amplifier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C981A2-21DC-71F0-F744-BE78DE3A84C5}"/>
              </a:ext>
            </a:extLst>
          </p:cNvPr>
          <p:cNvSpPr/>
          <p:nvPr/>
        </p:nvSpPr>
        <p:spPr>
          <a:xfrm>
            <a:off x="2944103" y="4150652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Arduino UNO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0F399D-9A8D-D25F-7F88-1C6A0C4C4333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4593021" y="1308829"/>
            <a:ext cx="0" cy="35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E41C9A-E877-7384-FA18-9DE510F8B39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4593021" y="2123901"/>
            <a:ext cx="0" cy="350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10A797-EAE6-0D32-A2F3-BD134EBB3734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4593021" y="2938974"/>
            <a:ext cx="0" cy="37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B2D678-9C92-49DF-79A4-9842F931FCF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593021" y="3777160"/>
            <a:ext cx="0" cy="37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81102AD-6D4C-5069-2DDC-EFEFBC634F44}"/>
              </a:ext>
            </a:extLst>
          </p:cNvPr>
          <p:cNvSpPr/>
          <p:nvPr/>
        </p:nvSpPr>
        <p:spPr>
          <a:xfrm>
            <a:off x="2944103" y="4988839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LCD Display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C81BB4-09E7-35CC-BDD6-F90033E54749}"/>
              </a:ext>
            </a:extLst>
          </p:cNvPr>
          <p:cNvSpPr/>
          <p:nvPr/>
        </p:nvSpPr>
        <p:spPr>
          <a:xfrm>
            <a:off x="2923082" y="5827026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Contamination status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2AB013-F405-4D4C-51A6-FD2EBA11975F}"/>
              </a:ext>
            </a:extLst>
          </p:cNvPr>
          <p:cNvCxnSpPr>
            <a:endCxn id="30" idx="0"/>
          </p:cNvCxnSpPr>
          <p:nvPr/>
        </p:nvCxnSpPr>
        <p:spPr>
          <a:xfrm>
            <a:off x="4572000" y="5453534"/>
            <a:ext cx="0" cy="37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3489A0-A2BF-AC46-1B10-4C040235783B}"/>
              </a:ext>
            </a:extLst>
          </p:cNvPr>
          <p:cNvCxnSpPr/>
          <p:nvPr/>
        </p:nvCxnSpPr>
        <p:spPr>
          <a:xfrm>
            <a:off x="4572000" y="4615347"/>
            <a:ext cx="0" cy="37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Plan &amp;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381205"/>
              </p:ext>
            </p:extLst>
          </p:nvPr>
        </p:nvGraphicFramePr>
        <p:xfrm>
          <a:off x="457200" y="1248229"/>
          <a:ext cx="8229600" cy="5036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426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Phase /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Tasks /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Owner(s)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 /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710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Literature review &amp; block-diagram finalization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710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Components sourcing &amp; bench wiring (laser + PD + LM358)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710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ESP32 ADC read + threshold logic + OLED display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5710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PoC integration test with clean vs contaminated water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426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Documentation + PPT + demo video recording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36377"/>
              </p:ext>
            </p:extLst>
          </p:nvPr>
        </p:nvGraphicFramePr>
        <p:xfrm>
          <a:off x="457200" y="1276709"/>
          <a:ext cx="8229600" cy="5215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967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Item /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Qty /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Cost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Source /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r>
                        <a:rPr lang="en-US" dirty="0"/>
                        <a:t>Laser Diode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 / Local store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 scattering source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Photodiode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~150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Amazon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Detects scattered light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69119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LM358 - Amplifier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~50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Local store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For </a:t>
                      </a:r>
                      <a:r>
                        <a:rPr lang="en-US" dirty="0" err="1"/>
                        <a:t>amplifiying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133450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Arduino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~650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ADC + logic + display drive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r>
                        <a:rPr lang="en-US" dirty="0"/>
                        <a:t>OLED Display (0.96")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display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r>
                        <a:rPr lang="en-US" dirty="0"/>
                        <a:t>Breadboard + Wires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set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Local store</a:t>
                      </a: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prototyping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795">
                <a:tc>
                  <a:txBody>
                    <a:bodyPr/>
                    <a:lstStyle/>
                    <a:p>
                      <a:r>
                        <a:rPr lang="en-US" dirty="0"/>
                        <a:t>Microplastics sample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~0 -100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Salt water + crushed plastic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Mock test sample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 &amp; Test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709"/>
            <a:ext cx="8229600" cy="530665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Demo Scenario</a:t>
            </a:r>
            <a:br>
              <a:rPr lang="en-US" sz="2400" dirty="0"/>
            </a:br>
            <a:r>
              <a:rPr lang="en-US" sz="2400" dirty="0"/>
              <a:t>• Show live setup (laser + photodiode + LM358 + ESP32 + OLED)</a:t>
            </a:r>
            <a:br>
              <a:rPr lang="en-US" sz="2400" dirty="0"/>
            </a:br>
            <a:r>
              <a:rPr lang="en-US" sz="2400" dirty="0"/>
              <a:t>• Test with clean water vs microplastic-mixed water</a:t>
            </a:r>
            <a:br>
              <a:rPr lang="en-US" sz="2400" dirty="0"/>
            </a:br>
            <a:r>
              <a:rPr lang="en-US" sz="2400" dirty="0"/>
              <a:t>• OLED changes to “Detected” when contaminated sample inserted</a:t>
            </a:r>
          </a:p>
          <a:p>
            <a:r>
              <a:rPr lang="en-US" sz="2400" b="1" dirty="0"/>
              <a:t>Audience</a:t>
            </a:r>
            <a:br>
              <a:rPr lang="en-US" sz="2400" dirty="0"/>
            </a:br>
            <a:r>
              <a:rPr lang="en-US" sz="2400" dirty="0"/>
              <a:t>• Mentors</a:t>
            </a:r>
          </a:p>
          <a:p>
            <a:r>
              <a:rPr lang="en-US" sz="2400" b="1" dirty="0"/>
              <a:t>Test Protocols</a:t>
            </a:r>
            <a:br>
              <a:rPr lang="en-US" sz="2400" dirty="0"/>
            </a:br>
            <a:r>
              <a:rPr lang="en-US" sz="2400" dirty="0"/>
              <a:t>• Two samples: clean RO water &amp; plastic-spiked water</a:t>
            </a:r>
            <a:br>
              <a:rPr lang="en-US" sz="2400" dirty="0"/>
            </a:br>
            <a:r>
              <a:rPr lang="en-US" sz="2400" dirty="0"/>
              <a:t>• ≥ 3–5 repeat runs for each sample</a:t>
            </a:r>
            <a:br>
              <a:rPr lang="en-US" sz="2400" dirty="0"/>
            </a:br>
            <a:r>
              <a:rPr lang="en-US" sz="2400" dirty="0"/>
              <a:t>• Check stable difference in sensor output &amp; correct alert</a:t>
            </a:r>
            <a:br>
              <a:rPr lang="en-US" sz="2400" dirty="0"/>
            </a:br>
            <a:r>
              <a:rPr lang="en-US" sz="2400" dirty="0"/>
              <a:t>• Indoor bench test to avoid light interference</a:t>
            </a:r>
          </a:p>
          <a:p>
            <a:r>
              <a:rPr lang="en-US" sz="2400" b="1" dirty="0"/>
              <a:t>Pre-Demo Checklist</a:t>
            </a:r>
            <a:br>
              <a:rPr lang="en-US" sz="2400" dirty="0"/>
            </a:br>
            <a:r>
              <a:rPr lang="en-US" sz="2400" dirty="0"/>
              <a:t>• Align laser &amp; photodiode, reset ESP32 reading</a:t>
            </a:r>
            <a:br>
              <a:rPr lang="en-US" sz="2400" dirty="0"/>
            </a:br>
            <a:r>
              <a:rPr lang="en-US" sz="2400" dirty="0"/>
              <a:t>• Prepare labeled test cups (clean / contaminated)</a:t>
            </a:r>
            <a:br>
              <a:rPr lang="en-US" sz="2400" dirty="0"/>
            </a:br>
            <a:r>
              <a:rPr lang="en-US" sz="2400" dirty="0"/>
              <a:t>• Safety: no water near electronics, tissue/cloth nearby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— Results &amp;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33967"/>
              </p:ext>
            </p:extLst>
          </p:nvPr>
        </p:nvGraphicFramePr>
        <p:xfrm>
          <a:off x="457200" y="1204247"/>
          <a:ext cx="82296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Metric (from criteria)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Pass/Gap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 / Evidence 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Sensor response to microplastics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Clear change from clean baseline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12–18% signal shift detected</a:t>
                      </a: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Response repeats when sample reintroduced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Detection time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≤ 2 seconds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~1.3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Measured with stopwatch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Repeatability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Consistent over ≥5 trials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4/5 consistent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trial noisy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Hardware budget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~3500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Within limit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Safety &amp; handling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spill risk near electronics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Enclosure prevents contact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Minor gap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r>
                        <a:rPr lang="en-US" dirty="0"/>
                        <a:t>Acrylic housing tested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User readability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OLED clean vs detected clearly shown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Contrast visible but could be brighter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r>
                        <a:rPr lang="en-US" dirty="0"/>
                        <a:t>Clarity issue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&amp;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Link: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https://github.com/Sibithra/Detection-of-Microplastics-in-Water-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Video: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hlinkClick r:id="rId3"/>
              </a:rPr>
              <a:t>https://uploadnow.io/f/PpMFvx7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Limitations &amp;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052856"/>
              </p:ext>
            </p:extLst>
          </p:nvPr>
        </p:nvGraphicFramePr>
        <p:xfrm>
          <a:off x="457200" y="146304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/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Impact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Likelihood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Mitigation /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Ambient light interference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Shield sensor / test indoors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Water spill on 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cups, drip tray, tissue, spacing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Laser–PD misalignment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 mounts, mark alignment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Team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Microplastic test sample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Prepare small DIY spiked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Team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Budget overrun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only essential components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Team</a:t>
                      </a:r>
                    </a:p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Go/No‑Go &amp; Next Steps →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900"/>
            <a:ext cx="8229600" cy="5478462"/>
          </a:xfrm>
        </p:spPr>
        <p:txBody>
          <a:bodyPr>
            <a:normAutofit fontScale="55000" lnSpcReduction="20000"/>
          </a:bodyPr>
          <a:lstStyle/>
          <a:p>
            <a:r>
              <a:rPr lang="en-US" sz="4400" b="1" dirty="0"/>
              <a:t>Decision</a:t>
            </a:r>
            <a:br>
              <a:rPr lang="en-US" sz="4400" dirty="0"/>
            </a:br>
            <a:r>
              <a:rPr lang="en-US" sz="4400" b="1" dirty="0"/>
              <a:t>Refine &amp; Re-test</a:t>
            </a:r>
            <a:r>
              <a:rPr lang="en-US" sz="4400" dirty="0"/>
              <a:t> — Signals and logic are promising, but repeatability &amp; stability need confirmation before advancing.</a:t>
            </a:r>
            <a:br>
              <a:rPr lang="en-US" sz="4400" dirty="0"/>
            </a:br>
            <a:endParaRPr lang="en-US" sz="4400" dirty="0"/>
          </a:p>
          <a:p>
            <a:r>
              <a:rPr lang="en-US" sz="4400" b="1" dirty="0"/>
              <a:t>Prototype Plan (after refine)</a:t>
            </a:r>
            <a:br>
              <a:rPr lang="en-US" sz="4400" dirty="0"/>
            </a:br>
            <a:r>
              <a:rPr lang="en-US" sz="4400" dirty="0"/>
              <a:t>• Stabilize optics + reduce ambient noise</a:t>
            </a:r>
            <a:br>
              <a:rPr lang="en-US" sz="4400" dirty="0"/>
            </a:br>
            <a:r>
              <a:rPr lang="en-US" sz="4400" dirty="0"/>
              <a:t>• Add auto-baseline / simple calibration</a:t>
            </a:r>
            <a:br>
              <a:rPr lang="en-US" sz="4400" dirty="0"/>
            </a:br>
            <a:r>
              <a:rPr lang="en-US" sz="4400" dirty="0"/>
              <a:t>• Add enclosure &amp; safe sample holder</a:t>
            </a:r>
            <a:br>
              <a:rPr lang="en-US" sz="4400" dirty="0"/>
            </a:br>
            <a:r>
              <a:rPr lang="en-US" sz="4400" b="1" dirty="0"/>
              <a:t>Timeline:</a:t>
            </a:r>
            <a:r>
              <a:rPr lang="en-US" sz="4400" dirty="0"/>
              <a:t> 1–2 weeks refinement + re-test</a:t>
            </a:r>
            <a:br>
              <a:rPr lang="en-US" sz="4400" dirty="0"/>
            </a:br>
            <a:r>
              <a:rPr lang="en-US" sz="4400" b="1" dirty="0"/>
              <a:t>Needs:</a:t>
            </a:r>
            <a:r>
              <a:rPr lang="en-US" sz="4400" dirty="0"/>
              <a:t> Mounts, sample sets, test time</a:t>
            </a:r>
            <a:br>
              <a:rPr lang="en-US" sz="4400" dirty="0"/>
            </a:br>
            <a:endParaRPr lang="en-US" sz="4400" dirty="0"/>
          </a:p>
          <a:p>
            <a:r>
              <a:rPr lang="en-US" sz="4400" b="1" dirty="0"/>
              <a:t>KPIs to Carry Forward</a:t>
            </a:r>
            <a:br>
              <a:rPr lang="en-US" sz="4400" dirty="0"/>
            </a:br>
            <a:r>
              <a:rPr lang="en-US" sz="4400" dirty="0"/>
              <a:t>• ≥5/5 consistent detections</a:t>
            </a:r>
            <a:br>
              <a:rPr lang="en-US" sz="4400" dirty="0"/>
            </a:br>
            <a:r>
              <a:rPr lang="en-US" sz="4400" dirty="0"/>
              <a:t>• ≤2 s response time</a:t>
            </a:r>
            <a:br>
              <a:rPr lang="en-US" sz="4400" dirty="0"/>
            </a:br>
            <a:r>
              <a:rPr lang="en-US" sz="4400" dirty="0"/>
              <a:t>• &lt;5% drift in 24 h</a:t>
            </a:r>
            <a:br>
              <a:rPr lang="en-US" sz="4400" dirty="0"/>
            </a:br>
            <a:r>
              <a:rPr lang="en-US" sz="4400" dirty="0"/>
              <a:t>• Within PoC budget</a:t>
            </a:r>
            <a:br>
              <a:rPr lang="en-US" sz="4400" dirty="0"/>
            </a:br>
            <a:r>
              <a:rPr lang="en-US" sz="4400" dirty="0"/>
              <a:t>• Clear unambiguous alert on display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7" ma:contentTypeDescription="Create a new document." ma:contentTypeScope="" ma:versionID="5ccebff34a8e51cede8d0bf61d443c7c">
  <xsd:schema xmlns:xsd="http://www.w3.org/2001/XMLSchema" xmlns:xs="http://www.w3.org/2001/XMLSchema" xmlns:p="http://schemas.microsoft.com/office/2006/metadata/properties" xmlns:ns2="8f4bcbf8-e4fe-49fe-9064-aa6724e1aff7" targetNamespace="http://schemas.microsoft.com/office/2006/metadata/properties" ma:root="true" ma:fieldsID="1abc57e4fbbc961d7f15fd72e71dc129" ns2:_="">
    <xsd:import namespace="8f4bcbf8-e4fe-49fe-9064-aa6724e1a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8CAE9F-5F9A-4FBA-8466-BB0E0BC2D4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15EA54-D5F3-44F3-B83F-AF6ABF1CDB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69BAA75-7199-496C-83BB-72595745D1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</TotalTime>
  <Words>1393</Words>
  <Application>Microsoft Office PowerPoint</Application>
  <PresentationFormat>On-screen Show (4:3)</PresentationFormat>
  <Paragraphs>220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SoI — Proof of Concept (PoC) Stage Template</vt:lpstr>
      <vt:lpstr>Problem Statement</vt:lpstr>
      <vt:lpstr> End‑User Recap</vt:lpstr>
      <vt:lpstr>EVIDENCES</vt:lpstr>
      <vt:lpstr>Success Metrics for the End-User</vt:lpstr>
      <vt:lpstr>Selected Idea Recap &amp; Value Proposition</vt:lpstr>
      <vt:lpstr>PoC Objectives &amp; Success Criteria</vt:lpstr>
      <vt:lpstr>Scope, Assumptions &amp; Constraints</vt:lpstr>
      <vt:lpstr>System Overview — Architecture / Design</vt:lpstr>
      <vt:lpstr>Build Plan &amp; Timeline</vt:lpstr>
      <vt:lpstr>Resources &amp; Budget</vt:lpstr>
      <vt:lpstr>Demo &amp; Test Plan</vt:lpstr>
      <vt:lpstr>Evidence — Results &amp; Findings</vt:lpstr>
      <vt:lpstr>Demo Video &amp; Repositories</vt:lpstr>
      <vt:lpstr>Risks, Limitations &amp; Mitigations</vt:lpstr>
      <vt:lpstr>Go/No‑Go &amp; Next Steps → Prototype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sibithra v</cp:lastModifiedBy>
  <cp:revision>17</cp:revision>
  <dcterms:created xsi:type="dcterms:W3CDTF">2013-01-27T09:14:16Z</dcterms:created>
  <dcterms:modified xsi:type="dcterms:W3CDTF">2026-03-20T06:45:23Z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