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2"/>
  </p:notesMasterIdLst>
  <p:sldIdLst>
    <p:sldId id="256" r:id="rId5"/>
    <p:sldId id="258" r:id="rId6"/>
    <p:sldId id="277" r:id="rId7"/>
    <p:sldId id="259" r:id="rId8"/>
    <p:sldId id="260" r:id="rId9"/>
    <p:sldId id="261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F4276-19FE-411C-A391-14851F592ADA}" v="16" dt="2026-01-26T09:38:46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ithra v" userId="028e6d356b201339" providerId="LiveId" clId="{93A1AED5-2762-446B-9BF4-5F8FA22B0C75}"/>
    <pc:docChg chg="custSel modSld">
      <pc:chgData name="sibithra v" userId="028e6d356b201339" providerId="LiveId" clId="{93A1AED5-2762-446B-9BF4-5F8FA22B0C75}" dt="2026-01-26T09:39:08.871" v="72" actId="20577"/>
      <pc:docMkLst>
        <pc:docMk/>
      </pc:docMkLst>
      <pc:sldChg chg="delSp modSp mod">
        <pc:chgData name="sibithra v" userId="028e6d356b201339" providerId="LiveId" clId="{93A1AED5-2762-446B-9BF4-5F8FA22B0C75}" dt="2026-01-23T02:58:06.575" v="33" actId="20577"/>
        <pc:sldMkLst>
          <pc:docMk/>
          <pc:sldMk cId="0" sldId="271"/>
        </pc:sldMkLst>
        <pc:spChg chg="mod">
          <ac:chgData name="sibithra v" userId="028e6d356b201339" providerId="LiveId" clId="{93A1AED5-2762-446B-9BF4-5F8FA22B0C75}" dt="2026-01-23T02:54:25.998" v="1" actId="20577"/>
          <ac:spMkLst>
            <pc:docMk/>
            <pc:sldMk cId="0" sldId="271"/>
            <ac:spMk id="450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5:02.518" v="8"/>
          <ac:spMkLst>
            <pc:docMk/>
            <pc:sldMk cId="0" sldId="271"/>
            <ac:spMk id="451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6:18.235" v="13"/>
          <ac:spMkLst>
            <pc:docMk/>
            <pc:sldMk cId="0" sldId="271"/>
            <ac:spMk id="452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6:47.646" v="23"/>
          <ac:spMkLst>
            <pc:docMk/>
            <pc:sldMk cId="0" sldId="271"/>
            <ac:spMk id="453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4:28.712" v="3" actId="20577"/>
          <ac:spMkLst>
            <pc:docMk/>
            <pc:sldMk cId="0" sldId="271"/>
            <ac:spMk id="455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5:13.425" v="9"/>
          <ac:spMkLst>
            <pc:docMk/>
            <pc:sldMk cId="0" sldId="271"/>
            <ac:spMk id="456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6:23.416" v="16" actId="20577"/>
          <ac:spMkLst>
            <pc:docMk/>
            <pc:sldMk cId="0" sldId="271"/>
            <ac:spMk id="457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6:58.188" v="24"/>
          <ac:spMkLst>
            <pc:docMk/>
            <pc:sldMk cId="0" sldId="271"/>
            <ac:spMk id="458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4:30.793" v="5" actId="20577"/>
          <ac:spMkLst>
            <pc:docMk/>
            <pc:sldMk cId="0" sldId="271"/>
            <ac:spMk id="460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5:23.187" v="10"/>
          <ac:spMkLst>
            <pc:docMk/>
            <pc:sldMk cId="0" sldId="271"/>
            <ac:spMk id="461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6:29.360" v="19" actId="20577"/>
          <ac:spMkLst>
            <pc:docMk/>
            <pc:sldMk cId="0" sldId="271"/>
            <ac:spMk id="462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8:06.575" v="33" actId="20577"/>
          <ac:spMkLst>
            <pc:docMk/>
            <pc:sldMk cId="0" sldId="271"/>
            <ac:spMk id="463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4:33.344" v="7" actId="20577"/>
          <ac:spMkLst>
            <pc:docMk/>
            <pc:sldMk cId="0" sldId="271"/>
            <ac:spMk id="465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5:36.348" v="11"/>
          <ac:spMkLst>
            <pc:docMk/>
            <pc:sldMk cId="0" sldId="271"/>
            <ac:spMk id="466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6:36.119" v="22" actId="20577"/>
          <ac:spMkLst>
            <pc:docMk/>
            <pc:sldMk cId="0" sldId="271"/>
            <ac:spMk id="467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7:58.509" v="26"/>
          <ac:spMkLst>
            <pc:docMk/>
            <pc:sldMk cId="0" sldId="271"/>
            <ac:spMk id="468" creationId="{00000000-0000-0000-0000-000000000000}"/>
          </ac:spMkLst>
        </pc:spChg>
      </pc:sldChg>
      <pc:sldChg chg="delSp modSp mod">
        <pc:chgData name="sibithra v" userId="028e6d356b201339" providerId="LiveId" clId="{93A1AED5-2762-446B-9BF4-5F8FA22B0C75}" dt="2026-01-26T09:39:08.871" v="72" actId="20577"/>
        <pc:sldMkLst>
          <pc:docMk/>
          <pc:sldMk cId="0" sldId="272"/>
        </pc:sldMkLst>
        <pc:spChg chg="mod">
          <ac:chgData name="sibithra v" userId="028e6d356b201339" providerId="LiveId" clId="{93A1AED5-2762-446B-9BF4-5F8FA22B0C75}" dt="2026-01-23T03:03:30.749" v="48" actId="14100"/>
          <ac:spMkLst>
            <pc:docMk/>
            <pc:sldMk cId="0" sldId="272"/>
            <ac:spMk id="481" creationId="{00000000-0000-0000-0000-000000000000}"/>
          </ac:spMkLst>
        </pc:spChg>
        <pc:spChg chg="mod">
          <ac:chgData name="sibithra v" userId="028e6d356b201339" providerId="LiveId" clId="{93A1AED5-2762-446B-9BF4-5F8FA22B0C75}" dt="2026-01-23T02:58:38.772" v="40" actId="20577"/>
          <ac:spMkLst>
            <pc:docMk/>
            <pc:sldMk cId="0" sldId="272"/>
            <ac:spMk id="482" creationId="{00000000-0000-0000-0000-000000000000}"/>
          </ac:spMkLst>
        </pc:spChg>
        <pc:spChg chg="mod">
          <ac:chgData name="sibithra v" userId="028e6d356b201339" providerId="LiveId" clId="{93A1AED5-2762-446B-9BF4-5F8FA22B0C75}" dt="2026-01-26T09:25:46.363" v="61"/>
          <ac:spMkLst>
            <pc:docMk/>
            <pc:sldMk cId="0" sldId="272"/>
            <ac:spMk id="486" creationId="{00000000-0000-0000-0000-000000000000}"/>
          </ac:spMkLst>
        </pc:spChg>
        <pc:spChg chg="mod">
          <ac:chgData name="sibithra v" userId="028e6d356b201339" providerId="LiveId" clId="{93A1AED5-2762-446B-9BF4-5F8FA22B0C75}" dt="2026-01-26T09:26:12.795" v="65" actId="404"/>
          <ac:spMkLst>
            <pc:docMk/>
            <pc:sldMk cId="0" sldId="272"/>
            <ac:spMk id="488" creationId="{00000000-0000-0000-0000-000000000000}"/>
          </ac:spMkLst>
        </pc:spChg>
        <pc:spChg chg="mod">
          <ac:chgData name="sibithra v" userId="028e6d356b201339" providerId="LiveId" clId="{93A1AED5-2762-446B-9BF4-5F8FA22B0C75}" dt="2026-01-23T03:08:47.692" v="59" actId="20577"/>
          <ac:spMkLst>
            <pc:docMk/>
            <pc:sldMk cId="0" sldId="272"/>
            <ac:spMk id="489" creationId="{00000000-0000-0000-0000-000000000000}"/>
          </ac:spMkLst>
        </pc:spChg>
        <pc:spChg chg="mod">
          <ac:chgData name="sibithra v" userId="028e6d356b201339" providerId="LiveId" clId="{93A1AED5-2762-446B-9BF4-5F8FA22B0C75}" dt="2026-01-26T09:38:27.299" v="67" actId="404"/>
          <ac:spMkLst>
            <pc:docMk/>
            <pc:sldMk cId="0" sldId="272"/>
            <ac:spMk id="491" creationId="{00000000-0000-0000-0000-000000000000}"/>
          </ac:spMkLst>
        </pc:spChg>
        <pc:spChg chg="mod">
          <ac:chgData name="sibithra v" userId="028e6d356b201339" providerId="LiveId" clId="{93A1AED5-2762-446B-9BF4-5F8FA22B0C75}" dt="2026-01-23T03:08:40.535" v="56" actId="20577"/>
          <ac:spMkLst>
            <pc:docMk/>
            <pc:sldMk cId="0" sldId="272"/>
            <ac:spMk id="492" creationId="{00000000-0000-0000-0000-000000000000}"/>
          </ac:spMkLst>
        </pc:spChg>
        <pc:spChg chg="mod">
          <ac:chgData name="sibithra v" userId="028e6d356b201339" providerId="LiveId" clId="{93A1AED5-2762-446B-9BF4-5F8FA22B0C75}" dt="2026-01-26T09:38:51.198" v="70" actId="404"/>
          <ac:spMkLst>
            <pc:docMk/>
            <pc:sldMk cId="0" sldId="272"/>
            <ac:spMk id="494" creationId="{00000000-0000-0000-0000-000000000000}"/>
          </ac:spMkLst>
        </pc:spChg>
        <pc:spChg chg="mod">
          <ac:chgData name="sibithra v" userId="028e6d356b201339" providerId="LiveId" clId="{93A1AED5-2762-446B-9BF4-5F8FA22B0C75}" dt="2026-01-23T03:08:24.437" v="51" actId="20577"/>
          <ac:spMkLst>
            <pc:docMk/>
            <pc:sldMk cId="0" sldId="272"/>
            <ac:spMk id="495" creationId="{00000000-0000-0000-0000-000000000000}"/>
          </ac:spMkLst>
        </pc:spChg>
        <pc:spChg chg="mod">
          <ac:chgData name="sibithra v" userId="028e6d356b201339" providerId="LiveId" clId="{93A1AED5-2762-446B-9BF4-5F8FA22B0C75}" dt="2026-01-26T09:39:08.871" v="72" actId="20577"/>
          <ac:spMkLst>
            <pc:docMk/>
            <pc:sldMk cId="0" sldId="272"/>
            <ac:spMk id="49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5364B8D-6CEA-4766-93C3-982E9EF6523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CBDF26-E2AC-48A5-B658-A32D89D7F6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9B954A-8C8B-4D2F-9684-B443319BC7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49C697-713F-4911-B627-C3F10EB818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F14EDC-84B4-4913-8932-CFB6F0EAC5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F2E981-27FC-4FA0-9EF7-5D8AA73A1A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B6057B-1A2E-4245-B4E3-C089982A0D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CFC50C-21DB-4D5D-9E15-EA11319D19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3241AC-DCBF-41EB-898E-D7499FC1F1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7E885F-647E-4B97-A9CA-EAFF878463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73889C-0F1C-498E-AE4C-87DF0C2891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2CDAC6-A568-4D2C-88D1-A681863B4A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F0AF5F-9021-4976-B033-5BD0D025A7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475871-CA94-4BF2-BAA1-2F0D121F31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14C1A-D5AD-44ED-BB27-2DED58928B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B026A5-AE90-4577-BDD2-D8D928CDA7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7124BF-057B-4CAB-BC2A-B82335BA5E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7C20C-E778-1559-1CD3-DAA43F461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35635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F5C2A-E4A9-4E29-81FE-3292F88C3A9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8537794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h.gov/news-events/nih-research-matters/plastic-particles-bottled-water" TargetMode="External"/><Relationship Id="rId7" Type="http://schemas.openxmlformats.org/officeDocument/2006/relationships/hyperlink" Target="https://pubmed.ncbi.nlm.nih.gov/38537794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ciencedirect.com/science/article/pii/S0043135419301794" TargetMode="External"/><Relationship Id="rId5" Type="http://schemas.openxmlformats.org/officeDocument/2006/relationships/hyperlink" Target="https://www.dw.com/en/bottled-water-not-safe-from-microplastic-contamination/a-42936246" TargetMode="External"/><Relationship Id="rId4" Type="http://schemas.openxmlformats.org/officeDocument/2006/relationships/hyperlink" Target="https://www.mdpi.com/2673-8929/4/2/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2191400" cy="1416960"/>
          </a:xfrm>
          <a:prstGeom prst="rect">
            <a:avLst/>
          </a:prstGeom>
          <a:solidFill>
            <a:srgbClr val="0B2E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0"/>
            <a:ext cx="200880" cy="1416960"/>
          </a:xfrm>
          <a:prstGeom prst="rect">
            <a:avLst/>
          </a:prstGeom>
          <a:solidFill>
            <a:srgbClr val="2F6FB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2004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— Prototype Stage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89604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CE9F7"/>
                </a:solidFill>
                <a:effectLst/>
                <a:uFillTx/>
                <a:latin typeface="Calibri"/>
                <a:ea typeface="Calibri"/>
              </a:rPr>
              <a:t>Submission Deck Template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00880" y="1816064"/>
            <a:ext cx="9164237" cy="397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50320" y="2084759"/>
            <a:ext cx="6071400" cy="5834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Team Details (fill)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50320" y="2668248"/>
            <a:ext cx="7771166" cy="312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sz="2400" dirty="0"/>
              <a:t>Team: </a:t>
            </a:r>
            <a:r>
              <a:rPr lang="en-US" sz="2400" dirty="0"/>
              <a:t>The Spark  </a:t>
            </a:r>
            <a:r>
              <a:rPr sz="2400" dirty="0"/>
              <a:t>  |   Team-ID: </a:t>
            </a:r>
            <a:r>
              <a:rPr lang="en-US" sz="2400" dirty="0"/>
              <a:t>P-2024-28-EI-159 </a:t>
            </a:r>
          </a:p>
          <a:p>
            <a:r>
              <a:rPr sz="2400" dirty="0"/>
              <a:t>Lead: </a:t>
            </a:r>
            <a:r>
              <a:rPr lang="en-US" sz="2400" dirty="0"/>
              <a:t>Sibithra V</a:t>
            </a:r>
            <a:r>
              <a:rPr sz="2400" dirty="0"/>
              <a:t>   |   Members:</a:t>
            </a:r>
            <a:r>
              <a:rPr lang="en-US" sz="2400" dirty="0"/>
              <a:t> Sakthivel V, Viviksha K,</a:t>
            </a:r>
          </a:p>
          <a:p>
            <a:r>
              <a:rPr lang="en-US" sz="2400" dirty="0">
                <a:ea typeface="Calibri"/>
                <a:cs typeface="Calibri"/>
              </a:rPr>
              <a:t>Arun R, Shri </a:t>
            </a:r>
            <a:r>
              <a:rPr lang="en-US" sz="2400" dirty="0" err="1">
                <a:ea typeface="Calibri"/>
                <a:cs typeface="Calibri"/>
              </a:rPr>
              <a:t>krishnamoorthy</a:t>
            </a:r>
            <a:r>
              <a:rPr lang="en-US" sz="2400" dirty="0">
                <a:ea typeface="Calibri"/>
                <a:cs typeface="Calibri"/>
              </a:rPr>
              <a:t> S</a:t>
            </a:r>
            <a:endParaRPr sz="2400" dirty="0">
              <a:ea typeface="Calibri"/>
              <a:cs typeface="Calibri"/>
            </a:endParaRPr>
          </a:p>
          <a:p>
            <a:r>
              <a:rPr sz="2400" dirty="0"/>
              <a:t>Mentor: </a:t>
            </a:r>
            <a:r>
              <a:rPr lang="en-US" sz="2400" dirty="0"/>
              <a:t>Sriram </a:t>
            </a:r>
            <a:r>
              <a:rPr sz="2400" dirty="0"/>
              <a:t>|   Lab Code: </a:t>
            </a:r>
            <a:r>
              <a:rPr lang="en-US" sz="2400" dirty="0"/>
              <a:t>EI</a:t>
            </a:r>
          </a:p>
          <a:p>
            <a:r>
              <a:rPr sz="2400" dirty="0"/>
              <a:t>Cohort: </a:t>
            </a:r>
            <a:r>
              <a:rPr lang="en-US" sz="2400" dirty="0"/>
              <a:t>2024 - 2028</a:t>
            </a:r>
            <a:r>
              <a:rPr sz="2400" dirty="0"/>
              <a:t>   |   Date: </a:t>
            </a:r>
            <a:r>
              <a:rPr lang="en-US" sz="2400" dirty="0"/>
              <a:t>2026-01-27</a:t>
            </a:r>
            <a:endParaRPr sz="2400" dirty="0">
              <a:ea typeface="Calibri"/>
              <a:cs typeface="Calibri"/>
            </a:endParaRP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Problem &amp; End-User Recap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7"/>
          <p:cNvSpPr/>
          <p:nvPr/>
        </p:nvSpPr>
        <p:spPr>
          <a:xfrm>
            <a:off x="228600" y="1426320"/>
            <a:ext cx="1097244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850320" y="1993320"/>
            <a:ext cx="1046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850320" y="2331720"/>
            <a:ext cx="1046052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768084" y="165492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Problem statement (≤150 words)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3922560" y="1522101"/>
            <a:ext cx="7168680" cy="79985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3991062" y="1832699"/>
            <a:ext cx="6949080" cy="4475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600" dirty="0"/>
              <a:t>Microplastics are widely present in drinking water, but current detection methods are slow, expensive, and lab-dependent. This prevents real-time monitoring and timely action to ensure water safety.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881160" y="2482581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Target end-user / context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3953040" y="246233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4032000" y="25232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dirty="0"/>
              <a:t>Water treatment plants, municipal boards, environmental agencies.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1587964" y="3331115"/>
            <a:ext cx="3071880" cy="482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Evidence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7"/>
          <p:cNvSpPr/>
          <p:nvPr/>
        </p:nvSpPr>
        <p:spPr>
          <a:xfrm>
            <a:off x="3922560" y="3226859"/>
            <a:ext cx="7168680" cy="8875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3991062" y="3588419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dirty="0"/>
              <a:t>80% water samples contain microplastics; lab tests take hours–days.</a:t>
            </a:r>
          </a:p>
          <a:p>
            <a:pPr>
              <a:tabLst>
                <a:tab pos="0" algn="l"/>
              </a:tabLst>
            </a:pPr>
            <a:r>
              <a:rPr lang="en-US" dirty="0">
                <a:hlinkClick r:id="rId3"/>
              </a:rPr>
              <a:t>https://pubmed.ncbi.nlm.nih.gov/38537794/</a:t>
            </a:r>
            <a:endParaRPr lang="en-US" dirty="0"/>
          </a:p>
          <a:p>
            <a:pPr>
              <a:tabLst>
                <a:tab pos="0" algn="l"/>
              </a:tabLst>
            </a:pP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9"/>
          <p:cNvSpPr/>
          <p:nvPr/>
        </p:nvSpPr>
        <p:spPr>
          <a:xfrm>
            <a:off x="1349864" y="412876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Success metric(s)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3922560" y="4270320"/>
            <a:ext cx="72784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3922560" y="4335252"/>
            <a:ext cx="7168680" cy="4782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dirty="0"/>
              <a:t>Fast detection, lower testing cost, early contamination alerts.</a:t>
            </a:r>
          </a:p>
        </p:txBody>
      </p:sp>
      <p:sp>
        <p:nvSpPr>
          <p:cNvPr id="58" name="Shape 2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4"/>
          <p:cNvSpPr/>
          <p:nvPr/>
        </p:nvSpPr>
        <p:spPr>
          <a:xfrm>
            <a:off x="10940142" y="6620400"/>
            <a:ext cx="656897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3/23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SoI Innovation Pipeline</a:t>
            </a:r>
          </a:p>
        </p:txBody>
      </p:sp>
      <p:sp>
        <p:nvSpPr>
          <p:cNvPr id="3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IDEATION</a:t>
            </a:r>
          </a:p>
        </p:txBody>
      </p:sp>
      <p:sp>
        <p:nvSpPr>
          <p:cNvPr id="4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Ideation Recap — Options Explored &amp; Selected Idea</a:t>
            </a:r>
          </a:p>
        </p:txBody>
      </p:sp>
      <p:sp>
        <p:nvSpPr>
          <p:cNvPr id="43" name="Shape 7"/>
          <p:cNvSpPr/>
          <p:nvPr/>
        </p:nvSpPr>
        <p:spPr>
          <a:xfrm>
            <a:off x="354960" y="1207080"/>
            <a:ext cx="11451240" cy="5152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850320" y="2331720"/>
            <a:ext cx="1046052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960120" y="2121456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dirty="0"/>
              <a:t>Ideas explored (≥3)</a:t>
            </a:r>
          </a:p>
        </p:txBody>
      </p:sp>
      <p:sp>
        <p:nvSpPr>
          <p:cNvPr id="47" name="Shape 11"/>
          <p:cNvSpPr/>
          <p:nvPr/>
        </p:nvSpPr>
        <p:spPr>
          <a:xfrm>
            <a:off x="3922560" y="2093784"/>
            <a:ext cx="716868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142160" y="2208228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b="1" dirty="0"/>
              <a:t>Ideas: </a:t>
            </a:r>
            <a:r>
              <a:rPr lang="en-US" dirty="0"/>
              <a:t>Laser + photodiode detection, IR turbidity sensing, Camera + filtration</a:t>
            </a:r>
            <a:endParaRPr dirty="0"/>
          </a:p>
        </p:txBody>
      </p:sp>
      <p:sp>
        <p:nvSpPr>
          <p:cNvPr id="49" name="Text 13"/>
          <p:cNvSpPr/>
          <p:nvPr/>
        </p:nvSpPr>
        <p:spPr>
          <a:xfrm>
            <a:off x="767880" y="2857356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dirty="0"/>
              <a:t>Selected idea (taken to PoC)</a:t>
            </a:r>
          </a:p>
        </p:txBody>
      </p:sp>
      <p:sp>
        <p:nvSpPr>
          <p:cNvPr id="50" name="Shape 14"/>
          <p:cNvSpPr/>
          <p:nvPr/>
        </p:nvSpPr>
        <p:spPr>
          <a:xfrm>
            <a:off x="3922200" y="2912700"/>
            <a:ext cx="7168680" cy="680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3922200" y="2898360"/>
            <a:ext cx="7169040" cy="64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dirty="0"/>
              <a:t>A portable, low-cost optical detection system using a laser, photodiode, and microcontroller for real-time alerts.</a:t>
            </a:r>
            <a:endParaRPr dirty="0"/>
          </a:p>
        </p:txBody>
      </p:sp>
      <p:sp>
        <p:nvSpPr>
          <p:cNvPr id="52" name="Text 16"/>
          <p:cNvSpPr/>
          <p:nvPr/>
        </p:nvSpPr>
        <p:spPr>
          <a:xfrm>
            <a:off x="677400" y="3731022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dirty="0"/>
              <a:t>             </a:t>
            </a:r>
            <a:r>
              <a:rPr dirty="0"/>
              <a:t>Why selected </a:t>
            </a:r>
          </a:p>
        </p:txBody>
      </p:sp>
      <p:sp>
        <p:nvSpPr>
          <p:cNvPr id="53" name="Shape 17"/>
          <p:cNvSpPr/>
          <p:nvPr/>
        </p:nvSpPr>
        <p:spPr>
          <a:xfrm>
            <a:off x="3890640" y="3777197"/>
            <a:ext cx="7278840" cy="566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4055520" y="3867254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dirty="0"/>
              <a:t>Chosen for its quick on-site detection (desirable), use of affordable components (feasible), and scalability for large-scale monitoring (viable).</a:t>
            </a:r>
            <a:endParaRPr dirty="0"/>
          </a:p>
        </p:txBody>
      </p:sp>
      <p:sp>
        <p:nvSpPr>
          <p:cNvPr id="55" name="Text 19"/>
          <p:cNvSpPr/>
          <p:nvPr/>
        </p:nvSpPr>
        <p:spPr>
          <a:xfrm>
            <a:off x="850320" y="4578462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dirty="0" err="1"/>
              <a:t>MoSCoW</a:t>
            </a:r>
            <a:r>
              <a:rPr dirty="0"/>
              <a:t>: Must-have features for PoC</a:t>
            </a:r>
          </a:p>
        </p:txBody>
      </p:sp>
      <p:sp>
        <p:nvSpPr>
          <p:cNvPr id="56" name="Shape 20"/>
          <p:cNvSpPr/>
          <p:nvPr/>
        </p:nvSpPr>
        <p:spPr>
          <a:xfrm>
            <a:off x="3880620" y="4527873"/>
            <a:ext cx="7278840" cy="6652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3990780" y="4648047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dirty="0"/>
              <a:t>Optical sensing, signal amplification and processing, and instant contamination display.</a:t>
            </a:r>
            <a:endParaRPr dirty="0"/>
          </a:p>
        </p:txBody>
      </p:sp>
      <p:sp>
        <p:nvSpPr>
          <p:cNvPr id="59" name="Text 2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SoI Prototype Stage — Submission Deck</a:t>
            </a:r>
          </a:p>
        </p:txBody>
      </p:sp>
      <p:sp>
        <p:nvSpPr>
          <p:cNvPr id="60" name="Text 24"/>
          <p:cNvSpPr/>
          <p:nvPr/>
        </p:nvSpPr>
        <p:spPr>
          <a:xfrm>
            <a:off x="10867696" y="6560820"/>
            <a:ext cx="729344" cy="260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200"/>
              <a:t>4/23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PoC Recap — What We Built &amp; Learned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Summarize PoC outcomes and gaps that drive prototype.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369240" y="1746779"/>
            <a:ext cx="1097244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850320" y="1993320"/>
            <a:ext cx="1046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PoC summary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850320" y="2331720"/>
            <a:ext cx="1046052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960120" y="2514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            PoC built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4032360" y="2569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4142160" y="2615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Arial"/>
              </a:rPr>
              <a:t>An optical microplastic detection setup using a laser, photodiode, signal amplifier, microcontroller, and LCD display.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978300" y="324612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            PoC focus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4032000" y="334656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4032000" y="3406845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Arial"/>
              </a:rPr>
              <a:t>To prove the feasibility of real-time microplastic detection using low-cost optical sensing.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1244933" y="4006169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        PoC evidence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7"/>
          <p:cNvSpPr/>
          <p:nvPr/>
        </p:nvSpPr>
        <p:spPr>
          <a:xfrm>
            <a:off x="4032000" y="4091235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4141800" y="4105144"/>
            <a:ext cx="6949080" cy="3931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Arial"/>
              </a:rPr>
              <a:t>The system showed a clear difference between clean and contaminated water with response time under 2 seconds.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9"/>
          <p:cNvSpPr/>
          <p:nvPr/>
        </p:nvSpPr>
        <p:spPr>
          <a:xfrm>
            <a:off x="1580451" y="4745644"/>
            <a:ext cx="2561349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Key gaps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0"/>
          <p:cNvSpPr/>
          <p:nvPr/>
        </p:nvSpPr>
        <p:spPr>
          <a:xfrm>
            <a:off x="4032000" y="4893569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4141800" y="4874849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Arial"/>
              </a:rPr>
              <a:t>Signal noise, alignment sensitivity, and repeatability need improvement before prototype scaling.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10972800" y="6620400"/>
            <a:ext cx="6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5/23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Objectives &amp; Success Criteria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Define what “success” means and how you will test.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594360" y="1920240"/>
            <a:ext cx="36205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704160" y="2011680"/>
            <a:ext cx="3401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Prototype objective / risk to reduce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4215240" y="1920240"/>
            <a:ext cx="17553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4325040" y="2011680"/>
            <a:ext cx="1535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597096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608076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Target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7946280" y="1920240"/>
            <a:ext cx="36205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8055720" y="2011680"/>
            <a:ext cx="3401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How we will test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594360" y="237744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/>
          </a:p>
          <a:p>
            <a:r>
              <a:rPr lang="en-US" dirty="0"/>
              <a:t>                 Reliable detection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6"/>
          <p:cNvSpPr/>
          <p:nvPr/>
        </p:nvSpPr>
        <p:spPr>
          <a:xfrm>
            <a:off x="4215240" y="2377440"/>
            <a:ext cx="175536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/>
          </a:p>
          <a:p>
            <a:r>
              <a:rPr lang="en-US" dirty="0"/>
              <a:t>      Accuracy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7"/>
          <p:cNvSpPr/>
          <p:nvPr/>
        </p:nvSpPr>
        <p:spPr>
          <a:xfrm>
            <a:off x="5970960" y="2377440"/>
            <a:ext cx="197460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/>
          </a:p>
          <a:p>
            <a:r>
              <a:rPr lang="en-US" dirty="0"/>
              <a:t>        ≥ 90%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8"/>
          <p:cNvSpPr/>
          <p:nvPr/>
        </p:nvSpPr>
        <p:spPr>
          <a:xfrm>
            <a:off x="7946280" y="237744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Test with clean vs plastic-mixed water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9"/>
          <p:cNvSpPr/>
          <p:nvPr/>
        </p:nvSpPr>
        <p:spPr>
          <a:xfrm>
            <a:off x="594360" y="3163680"/>
            <a:ext cx="362052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     </a:t>
            </a:r>
          </a:p>
          <a:p>
            <a:r>
              <a:rPr lang="en-US" dirty="0"/>
              <a:t>                    Fast response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0"/>
          <p:cNvSpPr/>
          <p:nvPr/>
        </p:nvSpPr>
        <p:spPr>
          <a:xfrm>
            <a:off x="4215240" y="3163680"/>
            <a:ext cx="17553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/>
          </a:p>
          <a:p>
            <a:r>
              <a:rPr lang="en-US" dirty="0"/>
              <a:t>  Detection time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5970960" y="3163680"/>
            <a:ext cx="197460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/>
          </a:p>
          <a:p>
            <a:r>
              <a:rPr lang="en-US" dirty="0"/>
              <a:t>     ≤ 2 seconds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2"/>
          <p:cNvSpPr/>
          <p:nvPr/>
        </p:nvSpPr>
        <p:spPr>
          <a:xfrm>
            <a:off x="7946280" y="3163680"/>
            <a:ext cx="362052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Measure time from sample insert to LCD update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3"/>
          <p:cNvSpPr/>
          <p:nvPr/>
        </p:nvSpPr>
        <p:spPr>
          <a:xfrm>
            <a:off x="594360" y="395028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 </a:t>
            </a:r>
          </a:p>
          <a:p>
            <a:r>
              <a:rPr lang="en-US" dirty="0"/>
              <a:t>                    Signal stability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4"/>
          <p:cNvSpPr/>
          <p:nvPr/>
        </p:nvSpPr>
        <p:spPr>
          <a:xfrm>
            <a:off x="4215240" y="3950280"/>
            <a:ext cx="175536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dirty="0">
                <a:solidFill>
                  <a:srgbClr val="000000"/>
                </a:solidFill>
                <a:latin typeface="Arial"/>
              </a:rPr>
              <a:t>          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Drift</a:t>
            </a:r>
          </a:p>
        </p:txBody>
      </p:sp>
      <p:sp>
        <p:nvSpPr>
          <p:cNvPr id="111" name="Shape 25"/>
          <p:cNvSpPr/>
          <p:nvPr/>
        </p:nvSpPr>
        <p:spPr>
          <a:xfrm>
            <a:off x="5970960" y="3950280"/>
            <a:ext cx="197460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/>
          </a:p>
          <a:p>
            <a:r>
              <a:rPr lang="en-US" dirty="0"/>
              <a:t>   &lt; 5% in 24 </a:t>
            </a:r>
            <a:r>
              <a:rPr lang="en-US" dirty="0" err="1"/>
              <a:t>hrs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6"/>
          <p:cNvSpPr/>
          <p:nvPr/>
        </p:nvSpPr>
        <p:spPr>
          <a:xfrm>
            <a:off x="7946280" y="395028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Continuous reading with same sample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7"/>
          <p:cNvSpPr/>
          <p:nvPr/>
        </p:nvSpPr>
        <p:spPr>
          <a:xfrm>
            <a:off x="594360" y="4736520"/>
            <a:ext cx="362052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    </a:t>
            </a:r>
          </a:p>
          <a:p>
            <a:r>
              <a:rPr lang="en-US" dirty="0"/>
              <a:t>                  Low false alerts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8"/>
          <p:cNvSpPr/>
          <p:nvPr/>
        </p:nvSpPr>
        <p:spPr>
          <a:xfrm>
            <a:off x="4215240" y="4736520"/>
            <a:ext cx="17553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/>
          </a:p>
          <a:p>
            <a:r>
              <a:rPr lang="en-US" dirty="0"/>
              <a:t>  False positives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9"/>
          <p:cNvSpPr/>
          <p:nvPr/>
        </p:nvSpPr>
        <p:spPr>
          <a:xfrm>
            <a:off x="5970960" y="4736520"/>
            <a:ext cx="197460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/>
          </a:p>
          <a:p>
            <a:r>
              <a:rPr lang="en-US" dirty="0"/>
              <a:t>        ≤ 1 in 10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0"/>
          <p:cNvSpPr/>
          <p:nvPr/>
        </p:nvSpPr>
        <p:spPr>
          <a:xfrm>
            <a:off x="7946280" y="4736520"/>
            <a:ext cx="362052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/>
          </a:p>
          <a:p>
            <a:r>
              <a:rPr lang="en-US" dirty="0"/>
              <a:t>Test under room light conditions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5"/>
          <p:cNvSpPr/>
          <p:nvPr/>
        </p:nvSpPr>
        <p:spPr>
          <a:xfrm>
            <a:off x="594360" y="62362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Add 3–5 rows. Keep it measurable.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6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7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8"/>
          <p:cNvSpPr/>
          <p:nvPr/>
        </p:nvSpPr>
        <p:spPr>
          <a:xfrm>
            <a:off x="10961914" y="6620400"/>
            <a:ext cx="635126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6/23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STRATEGY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594660" y="118854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 Prototype Strategy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850320" y="1828800"/>
            <a:ext cx="485964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Works-like functional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850320" y="2423160"/>
            <a:ext cx="8878296" cy="310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2400" b="1" dirty="0"/>
              <a:t>Why this option:</a:t>
            </a:r>
            <a:br>
              <a:rPr lang="en-US" sz="2400" dirty="0"/>
            </a:br>
            <a:r>
              <a:rPr lang="en-US" sz="2400" dirty="0"/>
              <a:t>Main risk is whether the hardware can reliably detect microplastics and give fast alerts. End-to-end sensor → amplifier → Arduino → LCD must work with measurable performance.</a:t>
            </a:r>
          </a:p>
          <a:p>
            <a:r>
              <a:rPr lang="en-US" sz="2400" b="1" dirty="0"/>
              <a:t>Your plan (short):</a:t>
            </a:r>
            <a:endParaRPr lang="en-US" sz="2400" dirty="0"/>
          </a:p>
          <a:p>
            <a:r>
              <a:rPr lang="en-US" sz="2400" b="1" dirty="0"/>
              <a:t>v1 goal:</a:t>
            </a:r>
            <a:r>
              <a:rPr lang="en-US" sz="2400" dirty="0"/>
              <a:t> Stable detection with fixed laser–sensor alignment</a:t>
            </a:r>
          </a:p>
          <a:p>
            <a:r>
              <a:rPr lang="en-US" sz="2400" b="1" dirty="0"/>
              <a:t>Integrations:</a:t>
            </a:r>
            <a:r>
              <a:rPr lang="en-US" sz="2400" dirty="0"/>
              <a:t> Laser → BPW34 → LM358 → Arduino → LCD</a:t>
            </a:r>
          </a:p>
          <a:p>
            <a:r>
              <a:rPr lang="en-US" sz="2400" b="1" dirty="0"/>
              <a:t>Done when:</a:t>
            </a:r>
            <a:r>
              <a:rPr lang="en-US" sz="2400" dirty="0"/>
              <a:t> ≥90% correct detection, ≤2 s response</a:t>
            </a:r>
          </a:p>
          <a:p>
            <a:r>
              <a:rPr lang="en-US" sz="2400" b="1" dirty="0"/>
              <a:t>Validation:</a:t>
            </a:r>
            <a:r>
              <a:rPr lang="en-US" sz="2400" dirty="0"/>
              <a:t> Repeated tests with clean vs plastic water</a:t>
            </a: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2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3"/>
          <p:cNvSpPr/>
          <p:nvPr/>
        </p:nvSpPr>
        <p:spPr>
          <a:xfrm>
            <a:off x="10961914" y="6620400"/>
            <a:ext cx="635126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7/23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STRATEGY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Strategy Option 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Works-like functional (integration &amp; metrics first)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 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850320" y="2039040"/>
            <a:ext cx="5157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850320" y="2377440"/>
            <a:ext cx="515700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1003082" y="5385600"/>
            <a:ext cx="507456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03040" indent="-203040" defTabSz="914400">
              <a:lnSpc>
                <a:spcPct val="112000"/>
              </a:lnSpc>
              <a:buClr>
                <a:srgbClr val="111827"/>
              </a:buClr>
              <a:buFont typeface="Symbol" charset="2"/>
              <a:buChar char=""/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2000"/>
              </a:lnSpc>
              <a:buClr>
                <a:srgbClr val="111827"/>
              </a:buClr>
              <a:buFont typeface="Symbol" charset="2"/>
              <a:buChar char=""/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3"/>
          <p:cNvSpPr/>
          <p:nvPr/>
        </p:nvSpPr>
        <p:spPr>
          <a:xfrm>
            <a:off x="172829" y="1764089"/>
            <a:ext cx="11497096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850320" y="2084394"/>
            <a:ext cx="483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dirty="0">
                <a:solidFill>
                  <a:srgbClr val="111827"/>
                </a:solidFill>
                <a:latin typeface="Calibri"/>
                <a:ea typeface="Calibri"/>
              </a:rPr>
              <a:t>My</a:t>
            </a:r>
            <a:r>
              <a:rPr lang="en-US" sz="20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 plan: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6793920" y="2377440"/>
            <a:ext cx="48369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861840" y="2607350"/>
            <a:ext cx="13849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Why this fits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3347615" y="2605544"/>
            <a:ext cx="5826365" cy="41505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3364082" y="2649030"/>
            <a:ext cx="5809897" cy="365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dirty="0"/>
              <a:t>Main risk is hardware integration and reliable optical detection.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9"/>
          <p:cNvSpPr/>
          <p:nvPr/>
        </p:nvSpPr>
        <p:spPr>
          <a:xfrm>
            <a:off x="861840" y="3236285"/>
            <a:ext cx="13849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v1 goal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0"/>
          <p:cNvSpPr/>
          <p:nvPr/>
        </p:nvSpPr>
        <p:spPr>
          <a:xfrm>
            <a:off x="3348383" y="3217828"/>
            <a:ext cx="5809895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1"/>
          <p:cNvSpPr/>
          <p:nvPr/>
        </p:nvSpPr>
        <p:spPr>
          <a:xfrm>
            <a:off x="3408574" y="3293698"/>
            <a:ext cx="5531008" cy="3236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dirty="0"/>
              <a:t>Stable detection of microplastics with fixed laser–sensor setup.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2"/>
          <p:cNvSpPr/>
          <p:nvPr/>
        </p:nvSpPr>
        <p:spPr>
          <a:xfrm>
            <a:off x="881568" y="3864287"/>
            <a:ext cx="13849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Integrations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3"/>
          <p:cNvSpPr/>
          <p:nvPr/>
        </p:nvSpPr>
        <p:spPr>
          <a:xfrm>
            <a:off x="3364084" y="3807356"/>
            <a:ext cx="5809894" cy="4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4"/>
          <p:cNvSpPr/>
          <p:nvPr/>
        </p:nvSpPr>
        <p:spPr>
          <a:xfrm>
            <a:off x="3388140" y="3821841"/>
            <a:ext cx="5551442" cy="408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/>
              <a:t>Laser → BPW34 photodiode → LM358 → Arduino UNO → LCD display.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5"/>
          <p:cNvSpPr/>
          <p:nvPr/>
        </p:nvSpPr>
        <p:spPr>
          <a:xfrm>
            <a:off x="861840" y="4493222"/>
            <a:ext cx="13849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Definition of Done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6"/>
          <p:cNvSpPr/>
          <p:nvPr/>
        </p:nvSpPr>
        <p:spPr>
          <a:xfrm>
            <a:off x="3347614" y="4484952"/>
            <a:ext cx="5826363" cy="4407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7"/>
          <p:cNvSpPr/>
          <p:nvPr/>
        </p:nvSpPr>
        <p:spPr>
          <a:xfrm>
            <a:off x="3473884" y="4570232"/>
            <a:ext cx="5465698" cy="3048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dirty="0"/>
              <a:t>LCD shows correct result in ≥90% of tests with ≤2 s response.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8"/>
          <p:cNvSpPr/>
          <p:nvPr/>
        </p:nvSpPr>
        <p:spPr>
          <a:xfrm>
            <a:off x="881568" y="5137985"/>
            <a:ext cx="13849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Validation + metrics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9"/>
          <p:cNvSpPr/>
          <p:nvPr/>
        </p:nvSpPr>
        <p:spPr>
          <a:xfrm>
            <a:off x="3347615" y="5139186"/>
            <a:ext cx="5826362" cy="60568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0"/>
          <p:cNvSpPr/>
          <p:nvPr/>
        </p:nvSpPr>
        <p:spPr>
          <a:xfrm>
            <a:off x="3331915" y="5201002"/>
            <a:ext cx="5826363" cy="4873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dirty="0"/>
              <a:t>Accuracy, response time, signal stability (drift &lt;5% in 24 </a:t>
            </a:r>
            <a:r>
              <a:rPr lang="en-US" dirty="0" err="1"/>
              <a:t>hrs</a:t>
            </a:r>
            <a:r>
              <a:rPr lang="en-US" dirty="0"/>
              <a:t>).</a:t>
            </a:r>
          </a:p>
        </p:txBody>
      </p:sp>
      <p:sp>
        <p:nvSpPr>
          <p:cNvPr id="180" name="Text 31"/>
          <p:cNvSpPr/>
          <p:nvPr/>
        </p:nvSpPr>
        <p:spPr>
          <a:xfrm>
            <a:off x="594360" y="62362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4"/>
          <p:cNvSpPr/>
          <p:nvPr/>
        </p:nvSpPr>
        <p:spPr>
          <a:xfrm>
            <a:off x="10929256" y="6584040"/>
            <a:ext cx="667783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8/23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600" y="-52403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"/>
          <p:cNvSpPr/>
          <p:nvPr/>
        </p:nvSpPr>
        <p:spPr>
          <a:xfrm>
            <a:off x="0" y="-52403"/>
            <a:ext cx="91025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SCOPE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Scope, Requirements &amp; Constraints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Define what you WILL build, and what you WON’T (for now).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7"/>
          <p:cNvSpPr/>
          <p:nvPr/>
        </p:nvSpPr>
        <p:spPr>
          <a:xfrm>
            <a:off x="594360" y="1874520"/>
            <a:ext cx="562320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850320" y="2039040"/>
            <a:ext cx="511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Scope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9"/>
          <p:cNvSpPr/>
          <p:nvPr/>
        </p:nvSpPr>
        <p:spPr>
          <a:xfrm>
            <a:off x="850320" y="2377440"/>
            <a:ext cx="511128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914400" y="251460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In scope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2409480" y="2486880"/>
            <a:ext cx="348804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2"/>
          <p:cNvSpPr/>
          <p:nvPr/>
        </p:nvSpPr>
        <p:spPr>
          <a:xfrm>
            <a:off x="2417476" y="2450520"/>
            <a:ext cx="3620684" cy="64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Arial"/>
              </a:rPr>
              <a:t>Optical sensing, signal amplification, microcontroller processing, and LCD-based contamination alerts.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3"/>
          <p:cNvSpPr/>
          <p:nvPr/>
        </p:nvSpPr>
        <p:spPr>
          <a:xfrm>
            <a:off x="914400" y="313632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Out of scope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4"/>
          <p:cNvSpPr/>
          <p:nvPr/>
        </p:nvSpPr>
        <p:spPr>
          <a:xfrm>
            <a:off x="2409480" y="3191220"/>
            <a:ext cx="3488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2409120" y="3209040"/>
            <a:ext cx="3488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Arial"/>
              </a:rPr>
              <a:t>Microplastic classification, cloud connectivity, large-scale deployment, field trials.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914400" y="375804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Assumptions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2409480" y="3813120"/>
            <a:ext cx="3488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2386636" y="3858840"/>
            <a:ext cx="3620684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Arial"/>
              </a:rPr>
              <a:t>Indoor testing environment, controlled lighting, and availability of test water samples.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9"/>
          <p:cNvSpPr/>
          <p:nvPr/>
        </p:nvSpPr>
        <p:spPr>
          <a:xfrm>
            <a:off x="914400" y="438012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Constraints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0"/>
          <p:cNvSpPr/>
          <p:nvPr/>
        </p:nvSpPr>
        <p:spPr>
          <a:xfrm>
            <a:off x="2409480" y="4434840"/>
            <a:ext cx="3488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1"/>
          <p:cNvSpPr/>
          <p:nvPr/>
        </p:nvSpPr>
        <p:spPr>
          <a:xfrm>
            <a:off x="2417476" y="4480560"/>
            <a:ext cx="3370604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Arial"/>
              </a:rPr>
              <a:t>Limited time, budget, and safety considerations for electronic components.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2"/>
          <p:cNvSpPr/>
          <p:nvPr/>
        </p:nvSpPr>
        <p:spPr>
          <a:xfrm>
            <a:off x="6327360" y="1844551"/>
            <a:ext cx="539460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3"/>
          <p:cNvSpPr/>
          <p:nvPr/>
        </p:nvSpPr>
        <p:spPr>
          <a:xfrm>
            <a:off x="6748200" y="2039040"/>
            <a:ext cx="488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Acceptance checks (3–5)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4"/>
          <p:cNvSpPr/>
          <p:nvPr/>
        </p:nvSpPr>
        <p:spPr>
          <a:xfrm>
            <a:off x="6748200" y="2377440"/>
            <a:ext cx="488268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314" name="Shape 25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6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7"/>
          <p:cNvSpPr/>
          <p:nvPr/>
        </p:nvSpPr>
        <p:spPr>
          <a:xfrm>
            <a:off x="10755086" y="6620400"/>
            <a:ext cx="841954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12/23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BA76D-F7D7-DCE0-CF98-FAF1994FA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485" y="2706319"/>
            <a:ext cx="446119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LCD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update ≤ 2 seconds after sample is placed.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Detection accuracy ≥ 90% over 20 test runs.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Signal drift &lt; 5% in 24 hours with same sample.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False alerts ≤ 1 in 10 tests under room light.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runs continuously for 1 hour without reset.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531641" y="446891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System Overview — Architecture / Design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7"/>
          <p:cNvSpPr/>
          <p:nvPr/>
        </p:nvSpPr>
        <p:spPr>
          <a:xfrm>
            <a:off x="236280" y="984848"/>
            <a:ext cx="5859720" cy="57787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</a:t>
            </a:r>
          </a:p>
        </p:txBody>
      </p:sp>
      <p:sp>
        <p:nvSpPr>
          <p:cNvPr id="325" name="Text 8"/>
          <p:cNvSpPr/>
          <p:nvPr/>
        </p:nvSpPr>
        <p:spPr>
          <a:xfrm>
            <a:off x="777240" y="2030040"/>
            <a:ext cx="1060668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10820400" y="6620400"/>
            <a:ext cx="776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 dirty="0"/>
              <a:t>13/23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1DF7C9-F639-C825-DF29-C1D5E25CC30C}"/>
              </a:ext>
            </a:extLst>
          </p:cNvPr>
          <p:cNvSpPr/>
          <p:nvPr/>
        </p:nvSpPr>
        <p:spPr>
          <a:xfrm>
            <a:off x="1505047" y="1124868"/>
            <a:ext cx="3297836" cy="48586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Water sample collection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093779-E080-5567-62B7-37D68331E270}"/>
              </a:ext>
            </a:extLst>
          </p:cNvPr>
          <p:cNvSpPr/>
          <p:nvPr/>
        </p:nvSpPr>
        <p:spPr>
          <a:xfrm>
            <a:off x="1505047" y="1939940"/>
            <a:ext cx="3297836" cy="48586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Laser light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17487A-3338-FC75-010A-13F9126A4317}"/>
              </a:ext>
            </a:extLst>
          </p:cNvPr>
          <p:cNvSpPr/>
          <p:nvPr/>
        </p:nvSpPr>
        <p:spPr>
          <a:xfrm>
            <a:off x="1505047" y="2755013"/>
            <a:ext cx="3297836" cy="48586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Photodiode sensor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2272CC-9023-ADE3-0135-AD5D7B1066B3}"/>
              </a:ext>
            </a:extLst>
          </p:cNvPr>
          <p:cNvSpPr/>
          <p:nvPr/>
        </p:nvSpPr>
        <p:spPr>
          <a:xfrm>
            <a:off x="1505047" y="3593199"/>
            <a:ext cx="3297836" cy="48586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LM358 Amplifier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B21729-1384-0F6B-F707-9A5F24FFA671}"/>
              </a:ext>
            </a:extLst>
          </p:cNvPr>
          <p:cNvSpPr/>
          <p:nvPr/>
        </p:nvSpPr>
        <p:spPr>
          <a:xfrm>
            <a:off x="1505047" y="4431386"/>
            <a:ext cx="3297836" cy="48586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Arduino UNO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C4F8BE-5125-442D-78A8-54A2C0715F72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3153965" y="1746588"/>
            <a:ext cx="0" cy="193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5DBDEA-3E00-0223-13F8-D1A7BF6E7C44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3153965" y="2425809"/>
            <a:ext cx="0" cy="329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184C2E-0A27-154D-74A2-CC2867212151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153965" y="3240882"/>
            <a:ext cx="0" cy="352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E46683-53ED-31FE-E441-8A7368BBA74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153965" y="4079068"/>
            <a:ext cx="0" cy="35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A63D55-5F4C-6BD7-5A96-27EB4AA451ED}"/>
              </a:ext>
            </a:extLst>
          </p:cNvPr>
          <p:cNvSpPr/>
          <p:nvPr/>
        </p:nvSpPr>
        <p:spPr>
          <a:xfrm>
            <a:off x="1505047" y="5269573"/>
            <a:ext cx="3297836" cy="48586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LCD Display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C41DCA-0A86-1453-01E8-62D6D39DC160}"/>
              </a:ext>
            </a:extLst>
          </p:cNvPr>
          <p:cNvSpPr/>
          <p:nvPr/>
        </p:nvSpPr>
        <p:spPr>
          <a:xfrm>
            <a:off x="1484026" y="6107760"/>
            <a:ext cx="3297836" cy="48586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Contamination status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139024-01BC-2314-24F8-7F719D224435}"/>
              </a:ext>
            </a:extLst>
          </p:cNvPr>
          <p:cNvCxnSpPr>
            <a:endCxn id="12" idx="0"/>
          </p:cNvCxnSpPr>
          <p:nvPr/>
        </p:nvCxnSpPr>
        <p:spPr>
          <a:xfrm>
            <a:off x="3132944" y="5755442"/>
            <a:ext cx="0" cy="35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CD80EB-CDC9-EACF-3A7A-D0FA88783F9F}"/>
              </a:ext>
            </a:extLst>
          </p:cNvPr>
          <p:cNvCxnSpPr>
            <a:cxnSpLocks/>
          </p:cNvCxnSpPr>
          <p:nvPr/>
        </p:nvCxnSpPr>
        <p:spPr>
          <a:xfrm>
            <a:off x="3132944" y="4900237"/>
            <a:ext cx="0" cy="390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2DA64A-FA56-F0D6-F736-7B0475203A23}"/>
              </a:ext>
            </a:extLst>
          </p:cNvPr>
          <p:cNvCxnSpPr>
            <a:stCxn id="2" idx="2"/>
          </p:cNvCxnSpPr>
          <p:nvPr/>
        </p:nvCxnSpPr>
        <p:spPr>
          <a:xfrm>
            <a:off x="3153965" y="1610737"/>
            <a:ext cx="0" cy="3292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F2B9BC-3C5B-2B3C-DEFD-9F0D5BA6E386}"/>
              </a:ext>
            </a:extLst>
          </p:cNvPr>
          <p:cNvCxnSpPr>
            <a:cxnSpLocks/>
          </p:cNvCxnSpPr>
          <p:nvPr/>
        </p:nvCxnSpPr>
        <p:spPr>
          <a:xfrm>
            <a:off x="3153965" y="2425809"/>
            <a:ext cx="0" cy="3292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99304E0-38CC-2A58-CB83-A5D032D4A73D}"/>
              </a:ext>
            </a:extLst>
          </p:cNvPr>
          <p:cNvCxnSpPr/>
          <p:nvPr/>
        </p:nvCxnSpPr>
        <p:spPr>
          <a:xfrm>
            <a:off x="3153965" y="3264398"/>
            <a:ext cx="0" cy="3292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20207D-0F23-6D8F-DC9C-EAE5BE7DB441}"/>
              </a:ext>
            </a:extLst>
          </p:cNvPr>
          <p:cNvCxnSpPr/>
          <p:nvPr/>
        </p:nvCxnSpPr>
        <p:spPr>
          <a:xfrm>
            <a:off x="3096502" y="4079068"/>
            <a:ext cx="0" cy="3292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E3E888-E0FA-A800-7D4F-916D829E65A4}"/>
              </a:ext>
            </a:extLst>
          </p:cNvPr>
          <p:cNvCxnSpPr/>
          <p:nvPr/>
        </p:nvCxnSpPr>
        <p:spPr>
          <a:xfrm>
            <a:off x="3096502" y="4961544"/>
            <a:ext cx="0" cy="3292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0425E7-459C-8E23-8B5B-4090287E9B4E}"/>
              </a:ext>
            </a:extLst>
          </p:cNvPr>
          <p:cNvCxnSpPr/>
          <p:nvPr/>
        </p:nvCxnSpPr>
        <p:spPr>
          <a:xfrm>
            <a:off x="3156463" y="5778557"/>
            <a:ext cx="0" cy="3292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7D9509C-F616-D35D-89D8-FD6CDBCDCFB7}"/>
              </a:ext>
            </a:extLst>
          </p:cNvPr>
          <p:cNvSpPr txBox="1"/>
          <p:nvPr/>
        </p:nvSpPr>
        <p:spPr>
          <a:xfrm>
            <a:off x="6823807" y="1517400"/>
            <a:ext cx="41939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Flow:</a:t>
            </a:r>
            <a:r>
              <a:rPr lang="en-US" sz="2400" dirty="0"/>
              <a:t> Analog light signal → amplified voltage → digital decision → visual alert</a:t>
            </a:r>
            <a:br>
              <a:rPr lang="en-US" sz="2400" dirty="0"/>
            </a:br>
            <a:r>
              <a:rPr lang="en-US" sz="2400" b="1" dirty="0"/>
              <a:t>Interfaces:</a:t>
            </a:r>
            <a:r>
              <a:rPr lang="en-US" sz="2400" dirty="0"/>
              <a:t> Analog signal to Arduino ADC, I2C to LCD</a:t>
            </a:r>
            <a:br>
              <a:rPr lang="en-US" sz="2400" dirty="0"/>
            </a:br>
            <a:r>
              <a:rPr lang="en-US" sz="2400" b="1" dirty="0"/>
              <a:t>Tech Stack:</a:t>
            </a:r>
            <a:r>
              <a:rPr lang="en-US" sz="2400" dirty="0"/>
              <a:t> Embedded C (Arduino IDE), discrete analog electronics</a:t>
            </a:r>
            <a:br>
              <a:rPr lang="en-US" sz="2400" dirty="0"/>
            </a:br>
            <a:r>
              <a:rPr lang="en-US" sz="2400" b="1" dirty="0"/>
              <a:t>Simulated Parts:</a:t>
            </a:r>
            <a:r>
              <a:rPr lang="en-US" sz="2400" dirty="0"/>
              <a:t> None (all components are real)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Build Plan &amp; Timeline (Sprints)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Break work into 2–4 short sprints. Each ends with a demoable increment.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7"/>
          <p:cNvSpPr/>
          <p:nvPr/>
        </p:nvSpPr>
        <p:spPr>
          <a:xfrm>
            <a:off x="59436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8"/>
          <p:cNvSpPr/>
          <p:nvPr/>
        </p:nvSpPr>
        <p:spPr>
          <a:xfrm>
            <a:off x="70416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Sprint / Week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9"/>
          <p:cNvSpPr/>
          <p:nvPr/>
        </p:nvSpPr>
        <p:spPr>
          <a:xfrm>
            <a:off x="2569320" y="1920240"/>
            <a:ext cx="46083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2679120" y="201168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tasks &amp; deliverables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7178040" y="1920240"/>
            <a:ext cx="24138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7287840" y="2011680"/>
            <a:ext cx="2194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Owner(s)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3"/>
          <p:cNvSpPr/>
          <p:nvPr/>
        </p:nvSpPr>
        <p:spPr>
          <a:xfrm>
            <a:off x="959220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4"/>
          <p:cNvSpPr/>
          <p:nvPr/>
        </p:nvSpPr>
        <p:spPr>
          <a:xfrm>
            <a:off x="970164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5"/>
          <p:cNvSpPr/>
          <p:nvPr/>
        </p:nvSpPr>
        <p:spPr>
          <a:xfrm>
            <a:off x="594360" y="237744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Sprint 1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6"/>
          <p:cNvSpPr/>
          <p:nvPr/>
        </p:nvSpPr>
        <p:spPr>
          <a:xfrm>
            <a:off x="2569320" y="2377440"/>
            <a:ext cx="46083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 Laser–photodiode alignment and ambient light reduction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7"/>
          <p:cNvSpPr/>
          <p:nvPr/>
        </p:nvSpPr>
        <p:spPr>
          <a:xfrm>
            <a:off x="7178040" y="2377440"/>
            <a:ext cx="24138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Team</a:t>
            </a:r>
          </a:p>
        </p:txBody>
      </p:sp>
      <p:sp>
        <p:nvSpPr>
          <p:cNvPr id="350" name="Shape 18"/>
          <p:cNvSpPr/>
          <p:nvPr/>
        </p:nvSpPr>
        <p:spPr>
          <a:xfrm>
            <a:off x="9592200" y="237744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Planned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9"/>
          <p:cNvSpPr/>
          <p:nvPr/>
        </p:nvSpPr>
        <p:spPr>
          <a:xfrm>
            <a:off x="594360" y="3337560"/>
            <a:ext cx="19746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Sprint 2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20"/>
          <p:cNvSpPr/>
          <p:nvPr/>
        </p:nvSpPr>
        <p:spPr>
          <a:xfrm>
            <a:off x="2569320" y="3337560"/>
            <a:ext cx="46083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Amplifier tuning and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arduino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firmware stabilization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21"/>
          <p:cNvSpPr/>
          <p:nvPr/>
        </p:nvSpPr>
        <p:spPr>
          <a:xfrm>
            <a:off x="7178040" y="3337560"/>
            <a:ext cx="24138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Team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22"/>
          <p:cNvSpPr/>
          <p:nvPr/>
        </p:nvSpPr>
        <p:spPr>
          <a:xfrm>
            <a:off x="9592200" y="3337560"/>
            <a:ext cx="19746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Planned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23"/>
          <p:cNvSpPr/>
          <p:nvPr/>
        </p:nvSpPr>
        <p:spPr>
          <a:xfrm>
            <a:off x="594360" y="429768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Sprint 3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4"/>
          <p:cNvSpPr/>
          <p:nvPr/>
        </p:nvSpPr>
        <p:spPr>
          <a:xfrm>
            <a:off x="2569320" y="4297680"/>
            <a:ext cx="46083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 Enclosure setup and safety checks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5"/>
          <p:cNvSpPr/>
          <p:nvPr/>
        </p:nvSpPr>
        <p:spPr>
          <a:xfrm>
            <a:off x="7178040" y="4297680"/>
            <a:ext cx="24138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Team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6"/>
          <p:cNvSpPr/>
          <p:nvPr/>
        </p:nvSpPr>
        <p:spPr>
          <a:xfrm>
            <a:off x="9592200" y="429768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Planned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27"/>
          <p:cNvSpPr/>
          <p:nvPr/>
        </p:nvSpPr>
        <p:spPr>
          <a:xfrm>
            <a:off x="594360" y="5257800"/>
            <a:ext cx="19746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Sprint 4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8"/>
          <p:cNvSpPr/>
          <p:nvPr/>
        </p:nvSpPr>
        <p:spPr>
          <a:xfrm>
            <a:off x="2569320" y="5257800"/>
            <a:ext cx="46083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Repeated testing and result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9"/>
          <p:cNvSpPr/>
          <p:nvPr/>
        </p:nvSpPr>
        <p:spPr>
          <a:xfrm>
            <a:off x="7178040" y="5257800"/>
            <a:ext cx="24138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Team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30"/>
          <p:cNvSpPr/>
          <p:nvPr/>
        </p:nvSpPr>
        <p:spPr>
          <a:xfrm>
            <a:off x="9592200" y="5257800"/>
            <a:ext cx="19746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Planned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3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4"/>
          <p:cNvSpPr/>
          <p:nvPr/>
        </p:nvSpPr>
        <p:spPr>
          <a:xfrm>
            <a:off x="10831286" y="6620400"/>
            <a:ext cx="765754" cy="15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14/23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RESOURCES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Resources, BOM &amp; Budget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7"/>
          <p:cNvSpPr/>
          <p:nvPr/>
        </p:nvSpPr>
        <p:spPr>
          <a:xfrm>
            <a:off x="624600" y="1371240"/>
            <a:ext cx="39499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8"/>
          <p:cNvSpPr/>
          <p:nvPr/>
        </p:nvSpPr>
        <p:spPr>
          <a:xfrm>
            <a:off x="734400" y="1462680"/>
            <a:ext cx="3730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Item / resource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9"/>
          <p:cNvSpPr/>
          <p:nvPr/>
        </p:nvSpPr>
        <p:spPr>
          <a:xfrm>
            <a:off x="4574880" y="1371240"/>
            <a:ext cx="15357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0"/>
          <p:cNvSpPr/>
          <p:nvPr/>
        </p:nvSpPr>
        <p:spPr>
          <a:xfrm>
            <a:off x="4684680" y="146268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1"/>
          <p:cNvSpPr/>
          <p:nvPr/>
        </p:nvSpPr>
        <p:spPr>
          <a:xfrm>
            <a:off x="6111000" y="1371240"/>
            <a:ext cx="15357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6220800" y="146268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Unit cost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3"/>
          <p:cNvSpPr/>
          <p:nvPr/>
        </p:nvSpPr>
        <p:spPr>
          <a:xfrm>
            <a:off x="7647120" y="1371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4"/>
          <p:cNvSpPr/>
          <p:nvPr/>
        </p:nvSpPr>
        <p:spPr>
          <a:xfrm>
            <a:off x="7756920" y="1462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Source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5"/>
          <p:cNvSpPr/>
          <p:nvPr/>
        </p:nvSpPr>
        <p:spPr>
          <a:xfrm>
            <a:off x="9622440" y="1371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6"/>
          <p:cNvSpPr/>
          <p:nvPr/>
        </p:nvSpPr>
        <p:spPr>
          <a:xfrm>
            <a:off x="9731880" y="1462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7"/>
          <p:cNvSpPr/>
          <p:nvPr/>
        </p:nvSpPr>
        <p:spPr>
          <a:xfrm>
            <a:off x="624600" y="1828440"/>
            <a:ext cx="394992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Laser diode</a:t>
            </a:r>
          </a:p>
        </p:txBody>
      </p:sp>
      <p:sp>
        <p:nvSpPr>
          <p:cNvPr id="385" name="Shape 18"/>
          <p:cNvSpPr/>
          <p:nvPr/>
        </p:nvSpPr>
        <p:spPr>
          <a:xfrm>
            <a:off x="4574880" y="1828440"/>
            <a:ext cx="153576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386" name="Shape 19"/>
          <p:cNvSpPr/>
          <p:nvPr/>
        </p:nvSpPr>
        <p:spPr>
          <a:xfrm>
            <a:off x="6111000" y="1828440"/>
            <a:ext cx="153576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</a:p>
        </p:txBody>
      </p:sp>
      <p:sp>
        <p:nvSpPr>
          <p:cNvPr id="387" name="Shape 20"/>
          <p:cNvSpPr/>
          <p:nvPr/>
        </p:nvSpPr>
        <p:spPr>
          <a:xfrm>
            <a:off x="7647120" y="1828440"/>
            <a:ext cx="197460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Local electronics shop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1"/>
          <p:cNvSpPr/>
          <p:nvPr/>
        </p:nvSpPr>
        <p:spPr>
          <a:xfrm>
            <a:off x="9621720" y="1828260"/>
            <a:ext cx="197460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Light source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22"/>
          <p:cNvSpPr/>
          <p:nvPr/>
        </p:nvSpPr>
        <p:spPr>
          <a:xfrm>
            <a:off x="624240" y="2384849"/>
            <a:ext cx="3949920" cy="559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Photodiode sensor(BPW34)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3"/>
          <p:cNvSpPr/>
          <p:nvPr/>
        </p:nvSpPr>
        <p:spPr>
          <a:xfrm>
            <a:off x="4574880" y="2386242"/>
            <a:ext cx="1535760" cy="5464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391" name="Shape 24"/>
          <p:cNvSpPr/>
          <p:nvPr/>
        </p:nvSpPr>
        <p:spPr>
          <a:xfrm>
            <a:off x="6111000" y="2385882"/>
            <a:ext cx="1535760" cy="54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80</a:t>
            </a:r>
          </a:p>
        </p:txBody>
      </p:sp>
      <p:sp>
        <p:nvSpPr>
          <p:cNvPr id="392" name="Shape 25"/>
          <p:cNvSpPr/>
          <p:nvPr/>
        </p:nvSpPr>
        <p:spPr>
          <a:xfrm>
            <a:off x="7647120" y="2384790"/>
            <a:ext cx="1974600" cy="54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Local electronics shop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6"/>
          <p:cNvSpPr/>
          <p:nvPr/>
        </p:nvSpPr>
        <p:spPr>
          <a:xfrm>
            <a:off x="9621720" y="2384790"/>
            <a:ext cx="1974600" cy="54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Optical sensor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7"/>
          <p:cNvSpPr/>
          <p:nvPr/>
        </p:nvSpPr>
        <p:spPr>
          <a:xfrm>
            <a:off x="623520" y="2932710"/>
            <a:ext cx="3949920" cy="55816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LM 358 OP-Amp</a:t>
            </a:r>
          </a:p>
        </p:txBody>
      </p:sp>
      <p:sp>
        <p:nvSpPr>
          <p:cNvPr id="395" name="Shape 28"/>
          <p:cNvSpPr/>
          <p:nvPr/>
        </p:nvSpPr>
        <p:spPr>
          <a:xfrm>
            <a:off x="4574520" y="2932350"/>
            <a:ext cx="1535760" cy="54646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396" name="Shape 29"/>
          <p:cNvSpPr/>
          <p:nvPr/>
        </p:nvSpPr>
        <p:spPr>
          <a:xfrm>
            <a:off x="6111000" y="2941140"/>
            <a:ext cx="1535760" cy="53767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</a:p>
        </p:txBody>
      </p:sp>
      <p:sp>
        <p:nvSpPr>
          <p:cNvPr id="397" name="Shape 30"/>
          <p:cNvSpPr/>
          <p:nvPr/>
        </p:nvSpPr>
        <p:spPr>
          <a:xfrm>
            <a:off x="7647120" y="2941140"/>
            <a:ext cx="1974600" cy="53767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Local electronics shop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1"/>
          <p:cNvSpPr/>
          <p:nvPr/>
        </p:nvSpPr>
        <p:spPr>
          <a:xfrm>
            <a:off x="9621720" y="2932350"/>
            <a:ext cx="1974600" cy="54646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Signal amplifier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2"/>
          <p:cNvSpPr/>
          <p:nvPr/>
        </p:nvSpPr>
        <p:spPr>
          <a:xfrm>
            <a:off x="624600" y="3478818"/>
            <a:ext cx="3949920" cy="55599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Arduino UNO</a:t>
            </a:r>
          </a:p>
        </p:txBody>
      </p:sp>
      <p:sp>
        <p:nvSpPr>
          <p:cNvPr id="400" name="Shape 33"/>
          <p:cNvSpPr/>
          <p:nvPr/>
        </p:nvSpPr>
        <p:spPr>
          <a:xfrm>
            <a:off x="4574880" y="3465104"/>
            <a:ext cx="1535760" cy="548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401" name="Shape 34"/>
          <p:cNvSpPr/>
          <p:nvPr/>
        </p:nvSpPr>
        <p:spPr>
          <a:xfrm>
            <a:off x="6111000" y="3465624"/>
            <a:ext cx="1535760" cy="56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450</a:t>
            </a:r>
          </a:p>
        </p:txBody>
      </p:sp>
      <p:sp>
        <p:nvSpPr>
          <p:cNvPr id="402" name="Shape 35"/>
          <p:cNvSpPr/>
          <p:nvPr/>
        </p:nvSpPr>
        <p:spPr>
          <a:xfrm>
            <a:off x="7647120" y="3476586"/>
            <a:ext cx="1974600" cy="56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Local electronics shop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36"/>
          <p:cNvSpPr/>
          <p:nvPr/>
        </p:nvSpPr>
        <p:spPr>
          <a:xfrm>
            <a:off x="9622440" y="3475494"/>
            <a:ext cx="1974600" cy="53806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Main controller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7"/>
          <p:cNvSpPr/>
          <p:nvPr/>
        </p:nvSpPr>
        <p:spPr>
          <a:xfrm>
            <a:off x="624600" y="4013556"/>
            <a:ext cx="3949920" cy="55599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Arduino UNO Cable</a:t>
            </a:r>
          </a:p>
        </p:txBody>
      </p:sp>
      <p:sp>
        <p:nvSpPr>
          <p:cNvPr id="405" name="Shape 38"/>
          <p:cNvSpPr/>
          <p:nvPr/>
        </p:nvSpPr>
        <p:spPr>
          <a:xfrm>
            <a:off x="4574880" y="4014836"/>
            <a:ext cx="1535760" cy="55179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406" name="Shape 39"/>
          <p:cNvSpPr/>
          <p:nvPr/>
        </p:nvSpPr>
        <p:spPr>
          <a:xfrm>
            <a:off x="6111000" y="4017180"/>
            <a:ext cx="1535760" cy="55255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35</a:t>
            </a:r>
          </a:p>
        </p:txBody>
      </p:sp>
      <p:sp>
        <p:nvSpPr>
          <p:cNvPr id="407" name="Shape 40"/>
          <p:cNvSpPr/>
          <p:nvPr/>
        </p:nvSpPr>
        <p:spPr>
          <a:xfrm>
            <a:off x="7647120" y="4030374"/>
            <a:ext cx="1974600" cy="542796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Local electronics shop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1"/>
          <p:cNvSpPr/>
          <p:nvPr/>
        </p:nvSpPr>
        <p:spPr>
          <a:xfrm>
            <a:off x="9622440" y="4000362"/>
            <a:ext cx="1974600" cy="572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Programming &amp; power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32">
            <a:extLst>
              <a:ext uri="{FF2B5EF4-FFF2-40B4-BE49-F238E27FC236}">
                <a16:creationId xmlns:a16="http://schemas.microsoft.com/office/drawing/2014/main" id="{A865AD13-B7D0-9D39-B81D-1CF0B4A4E1A3}"/>
              </a:ext>
            </a:extLst>
          </p:cNvPr>
          <p:cNvSpPr/>
          <p:nvPr/>
        </p:nvSpPr>
        <p:spPr>
          <a:xfrm>
            <a:off x="623880" y="4575214"/>
            <a:ext cx="3949920" cy="55599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Bread board </a:t>
            </a:r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2A08592A-FA59-B1C8-9418-FAEE5CD3EC08}"/>
              </a:ext>
            </a:extLst>
          </p:cNvPr>
          <p:cNvSpPr/>
          <p:nvPr/>
        </p:nvSpPr>
        <p:spPr>
          <a:xfrm>
            <a:off x="4574160" y="4561500"/>
            <a:ext cx="1535760" cy="548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18" name="Shape 34">
            <a:extLst>
              <a:ext uri="{FF2B5EF4-FFF2-40B4-BE49-F238E27FC236}">
                <a16:creationId xmlns:a16="http://schemas.microsoft.com/office/drawing/2014/main" id="{9646B118-E47C-6688-92A1-91547D71B866}"/>
              </a:ext>
            </a:extLst>
          </p:cNvPr>
          <p:cNvSpPr/>
          <p:nvPr/>
        </p:nvSpPr>
        <p:spPr>
          <a:xfrm>
            <a:off x="6110280" y="4562020"/>
            <a:ext cx="1535760" cy="56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54</a:t>
            </a:r>
          </a:p>
        </p:txBody>
      </p:sp>
      <p:sp>
        <p:nvSpPr>
          <p:cNvPr id="19" name="Shape 35">
            <a:extLst>
              <a:ext uri="{FF2B5EF4-FFF2-40B4-BE49-F238E27FC236}">
                <a16:creationId xmlns:a16="http://schemas.microsoft.com/office/drawing/2014/main" id="{38A83FD2-B9C2-D4FD-48D9-2FD459F1B9B9}"/>
              </a:ext>
            </a:extLst>
          </p:cNvPr>
          <p:cNvSpPr/>
          <p:nvPr/>
        </p:nvSpPr>
        <p:spPr>
          <a:xfrm>
            <a:off x="7646400" y="4572982"/>
            <a:ext cx="1974600" cy="56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Local electronics shop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6">
            <a:extLst>
              <a:ext uri="{FF2B5EF4-FFF2-40B4-BE49-F238E27FC236}">
                <a16:creationId xmlns:a16="http://schemas.microsoft.com/office/drawing/2014/main" id="{1CCDE3B8-A13B-FAFB-E6E1-1CBB3D37D864}"/>
              </a:ext>
            </a:extLst>
          </p:cNvPr>
          <p:cNvSpPr/>
          <p:nvPr/>
        </p:nvSpPr>
        <p:spPr>
          <a:xfrm>
            <a:off x="9621720" y="4571890"/>
            <a:ext cx="1974600" cy="53806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Circuit setup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64053893-3B62-7D49-609A-13803C05652B}"/>
              </a:ext>
            </a:extLst>
          </p:cNvPr>
          <p:cNvSpPr/>
          <p:nvPr/>
        </p:nvSpPr>
        <p:spPr>
          <a:xfrm>
            <a:off x="623880" y="5075640"/>
            <a:ext cx="394992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Jumper Wires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BAE7ACBA-A56D-EBA4-0900-A88A5F6A22DF}"/>
              </a:ext>
            </a:extLst>
          </p:cNvPr>
          <p:cNvSpPr/>
          <p:nvPr/>
        </p:nvSpPr>
        <p:spPr>
          <a:xfrm>
            <a:off x="4574160" y="5075640"/>
            <a:ext cx="153576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As required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A5112FA9-9BFA-6C99-5422-A8AB08658363}"/>
              </a:ext>
            </a:extLst>
          </p:cNvPr>
          <p:cNvSpPr/>
          <p:nvPr/>
        </p:nvSpPr>
        <p:spPr>
          <a:xfrm>
            <a:off x="6110280" y="5075640"/>
            <a:ext cx="153576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45</a:t>
            </a: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8DADDD7A-0EFE-00EF-3DDE-5E53D1DA8D5C}"/>
              </a:ext>
            </a:extLst>
          </p:cNvPr>
          <p:cNvSpPr/>
          <p:nvPr/>
        </p:nvSpPr>
        <p:spPr>
          <a:xfrm>
            <a:off x="7646400" y="5075640"/>
            <a:ext cx="197460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Local electronics shop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0DE588C9-B3DC-7BC0-5360-5DAA7C0FCD22}"/>
              </a:ext>
            </a:extLst>
          </p:cNvPr>
          <p:cNvSpPr/>
          <p:nvPr/>
        </p:nvSpPr>
        <p:spPr>
          <a:xfrm>
            <a:off x="9621000" y="5075460"/>
            <a:ext cx="197460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Connections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34E06DD7-2B58-8D07-E3FE-8BD5FD415224}"/>
              </a:ext>
            </a:extLst>
          </p:cNvPr>
          <p:cNvSpPr/>
          <p:nvPr/>
        </p:nvSpPr>
        <p:spPr>
          <a:xfrm>
            <a:off x="623520" y="5640233"/>
            <a:ext cx="3949920" cy="559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16*2 LCD Display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B9AF2480-4702-B534-6BF9-B21365D1406B}"/>
              </a:ext>
            </a:extLst>
          </p:cNvPr>
          <p:cNvSpPr/>
          <p:nvPr/>
        </p:nvSpPr>
        <p:spPr>
          <a:xfrm>
            <a:off x="4574160" y="5641626"/>
            <a:ext cx="1535760" cy="5464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6D8BC581-AE69-C4F3-5F42-042307CA4505}"/>
              </a:ext>
            </a:extLst>
          </p:cNvPr>
          <p:cNvSpPr/>
          <p:nvPr/>
        </p:nvSpPr>
        <p:spPr>
          <a:xfrm>
            <a:off x="6110280" y="5641266"/>
            <a:ext cx="1535760" cy="54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174</a:t>
            </a: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15356F90-BA9E-1BE4-EA5E-E922DFC8E7DA}"/>
              </a:ext>
            </a:extLst>
          </p:cNvPr>
          <p:cNvSpPr/>
          <p:nvPr/>
        </p:nvSpPr>
        <p:spPr>
          <a:xfrm>
            <a:off x="7646400" y="5640174"/>
            <a:ext cx="1974600" cy="54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Local electronics shop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83F21676-5338-7563-5DD6-AA4434581C81}"/>
              </a:ext>
            </a:extLst>
          </p:cNvPr>
          <p:cNvSpPr/>
          <p:nvPr/>
        </p:nvSpPr>
        <p:spPr>
          <a:xfrm>
            <a:off x="9621000" y="5640174"/>
            <a:ext cx="1974600" cy="54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Output display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42A40614-E878-F3E2-F2ED-1C0F362B89A7}"/>
              </a:ext>
            </a:extLst>
          </p:cNvPr>
          <p:cNvSpPr/>
          <p:nvPr/>
        </p:nvSpPr>
        <p:spPr>
          <a:xfrm>
            <a:off x="623880" y="6194352"/>
            <a:ext cx="394992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Transparent beaker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1B720490-E913-9CC4-14D3-659C60E04395}"/>
              </a:ext>
            </a:extLst>
          </p:cNvPr>
          <p:cNvSpPr/>
          <p:nvPr/>
        </p:nvSpPr>
        <p:spPr>
          <a:xfrm>
            <a:off x="4574160" y="6194352"/>
            <a:ext cx="153576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159A4F4C-C123-9B3E-6AAB-2E44938B0132}"/>
              </a:ext>
            </a:extLst>
          </p:cNvPr>
          <p:cNvSpPr/>
          <p:nvPr/>
        </p:nvSpPr>
        <p:spPr>
          <a:xfrm>
            <a:off x="6110280" y="6194352"/>
            <a:ext cx="153576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15</a:t>
            </a:r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64259848-7BD4-A701-9EBE-16C8706F38C3}"/>
              </a:ext>
            </a:extLst>
          </p:cNvPr>
          <p:cNvSpPr/>
          <p:nvPr/>
        </p:nvSpPr>
        <p:spPr>
          <a:xfrm>
            <a:off x="7646400" y="6194352"/>
            <a:ext cx="197460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Local electronics shop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D1AEFE8B-7C15-C08E-6D6D-DAABE8D27CF6}"/>
              </a:ext>
            </a:extLst>
          </p:cNvPr>
          <p:cNvSpPr/>
          <p:nvPr/>
        </p:nvSpPr>
        <p:spPr>
          <a:xfrm>
            <a:off x="9621000" y="6194172"/>
            <a:ext cx="1974600" cy="547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Water sample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Demo &amp; Validation Plan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What you will show, how you will test, and what evidence you will capture.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7"/>
          <p:cNvSpPr/>
          <p:nvPr/>
        </p:nvSpPr>
        <p:spPr>
          <a:xfrm>
            <a:off x="594360" y="1874520"/>
            <a:ext cx="566892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8"/>
          <p:cNvSpPr/>
          <p:nvPr/>
        </p:nvSpPr>
        <p:spPr>
          <a:xfrm>
            <a:off x="850320" y="2039040"/>
            <a:ext cx="5157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Demo scenario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9"/>
          <p:cNvSpPr/>
          <p:nvPr/>
        </p:nvSpPr>
        <p:spPr>
          <a:xfrm>
            <a:off x="850320" y="2377440"/>
            <a:ext cx="515700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dirty="0"/>
              <a:t>Describe the end-to-end demo in 4–6 steps.</a:t>
            </a:r>
            <a:endParaRPr lang="en-US" dirty="0"/>
          </a:p>
          <a:p>
            <a:r>
              <a:rPr lang="en-US" dirty="0"/>
              <a:t>1.Power ON Arduino and LCD.</a:t>
            </a:r>
          </a:p>
          <a:p>
            <a:r>
              <a:rPr lang="en-US" dirty="0"/>
              <a:t>2.Place beaker with clean water → LCD shows “No Contamination”.</a:t>
            </a:r>
          </a:p>
          <a:p>
            <a:r>
              <a:rPr lang="en-US" dirty="0"/>
              <a:t>3.Add crushed plastic to water.</a:t>
            </a:r>
          </a:p>
          <a:p>
            <a:r>
              <a:rPr lang="en-US" dirty="0"/>
              <a:t>4.Laser light scatters; sensor value changes.</a:t>
            </a:r>
          </a:p>
          <a:p>
            <a:r>
              <a:rPr lang="en-US" dirty="0"/>
              <a:t>5.LCD updates to “Detected”.</a:t>
            </a:r>
          </a:p>
          <a:p>
            <a:r>
              <a:rPr lang="en-US" dirty="0"/>
              <a:t>6.Repeat test for confirmation.</a:t>
            </a:r>
          </a:p>
          <a:p>
            <a:r>
              <a:rPr lang="en-US" b="1" dirty="0"/>
              <a:t>Audience:</a:t>
            </a:r>
            <a:r>
              <a:rPr lang="en-US" dirty="0"/>
              <a:t> Mentors / Judges</a:t>
            </a:r>
            <a:br>
              <a:rPr lang="en-US" dirty="0"/>
            </a:br>
            <a:r>
              <a:rPr lang="en-US" b="1" dirty="0"/>
              <a:t>Duration:</a:t>
            </a:r>
            <a:r>
              <a:rPr lang="en-US" dirty="0"/>
              <a:t> ≤ 2 min video </a:t>
            </a:r>
          </a:p>
        </p:txBody>
      </p:sp>
      <p:sp>
        <p:nvSpPr>
          <p:cNvPr id="425" name="Shape 10"/>
          <p:cNvSpPr/>
          <p:nvPr/>
        </p:nvSpPr>
        <p:spPr>
          <a:xfrm>
            <a:off x="6519240" y="1828452"/>
            <a:ext cx="53488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1"/>
          <p:cNvSpPr/>
          <p:nvPr/>
        </p:nvSpPr>
        <p:spPr>
          <a:xfrm>
            <a:off x="6793920" y="2039040"/>
            <a:ext cx="483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Validation protocols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2"/>
          <p:cNvSpPr/>
          <p:nvPr/>
        </p:nvSpPr>
        <p:spPr>
          <a:xfrm>
            <a:off x="6793920" y="2377440"/>
            <a:ext cx="48369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dirty="0">
                <a:solidFill>
                  <a:srgbClr val="4B5563"/>
                </a:solidFill>
                <a:latin typeface="Calibri"/>
                <a:ea typeface="Calibri"/>
              </a:rPr>
              <a:t>*</a:t>
            </a:r>
            <a:r>
              <a:rPr lang="en-US" b="1" dirty="0"/>
              <a:t>Test cases / sample size:</a:t>
            </a:r>
            <a:r>
              <a:rPr lang="en-US" dirty="0"/>
              <a:t> Clean water vs plastic-mixed water, 20 total runs</a:t>
            </a:r>
          </a:p>
          <a:p>
            <a:r>
              <a:rPr lang="en-US" b="1" dirty="0"/>
              <a:t>*Environment:</a:t>
            </a:r>
            <a:r>
              <a:rPr lang="en-US" dirty="0"/>
              <a:t> Indoor bench setup, controlled lighting</a:t>
            </a:r>
          </a:p>
          <a:p>
            <a:r>
              <a:rPr lang="en-US" b="1" dirty="0"/>
              <a:t>*What we measure:</a:t>
            </a:r>
            <a:r>
              <a:rPr lang="en-US" dirty="0"/>
              <a:t> Detection accuracy, response time, signal stability</a:t>
            </a:r>
          </a:p>
          <a:p>
            <a:r>
              <a:rPr lang="en-US" b="1" dirty="0"/>
              <a:t>*Pass/Fail:</a:t>
            </a:r>
            <a:r>
              <a:rPr lang="en-US" dirty="0"/>
              <a:t> Accuracy ≥90%, response ≤2 s, false alerts ≤1 in 10</a:t>
            </a:r>
          </a:p>
          <a:p>
            <a:endParaRPr lang="en-US" b="1" dirty="0"/>
          </a:p>
          <a:p>
            <a:r>
              <a:rPr lang="en-US" b="1" dirty="0"/>
              <a:t>Usability check:</a:t>
            </a:r>
            <a:br>
              <a:rPr lang="en-US" dirty="0"/>
            </a:br>
            <a:r>
              <a:rPr lang="en-US" dirty="0"/>
              <a:t>Team members perform sample swap and observe clarity of LCD message.</a:t>
            </a: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5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6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10863942" y="6620400"/>
            <a:ext cx="733097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16/23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EVIDENCE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Evidence — Prototype Results &amp; Iterations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Show what improved from v1 → v2, with evidence.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7"/>
          <p:cNvSpPr/>
          <p:nvPr/>
        </p:nvSpPr>
        <p:spPr>
          <a:xfrm>
            <a:off x="594360" y="1920240"/>
            <a:ext cx="15357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8"/>
          <p:cNvSpPr/>
          <p:nvPr/>
        </p:nvSpPr>
        <p:spPr>
          <a:xfrm>
            <a:off x="704160" y="201168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9"/>
          <p:cNvSpPr/>
          <p:nvPr/>
        </p:nvSpPr>
        <p:spPr>
          <a:xfrm>
            <a:off x="2130480" y="1920240"/>
            <a:ext cx="285264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0"/>
          <p:cNvSpPr/>
          <p:nvPr/>
        </p:nvSpPr>
        <p:spPr>
          <a:xfrm>
            <a:off x="2240280" y="2011680"/>
            <a:ext cx="2633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changed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1"/>
          <p:cNvSpPr/>
          <p:nvPr/>
        </p:nvSpPr>
        <p:spPr>
          <a:xfrm>
            <a:off x="4983480" y="1920240"/>
            <a:ext cx="21942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2"/>
          <p:cNvSpPr/>
          <p:nvPr/>
        </p:nvSpPr>
        <p:spPr>
          <a:xfrm>
            <a:off x="5093280" y="2011680"/>
            <a:ext cx="1974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 run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3"/>
          <p:cNvSpPr/>
          <p:nvPr/>
        </p:nvSpPr>
        <p:spPr>
          <a:xfrm>
            <a:off x="7178040" y="1920240"/>
            <a:ext cx="21942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4"/>
          <p:cNvSpPr/>
          <p:nvPr/>
        </p:nvSpPr>
        <p:spPr>
          <a:xfrm>
            <a:off x="7287840" y="2011680"/>
            <a:ext cx="1974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5"/>
          <p:cNvSpPr/>
          <p:nvPr/>
        </p:nvSpPr>
        <p:spPr>
          <a:xfrm>
            <a:off x="9372600" y="1920240"/>
            <a:ext cx="21942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6"/>
          <p:cNvSpPr/>
          <p:nvPr/>
        </p:nvSpPr>
        <p:spPr>
          <a:xfrm>
            <a:off x="9482400" y="2011680"/>
            <a:ext cx="1974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Evidence link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7"/>
          <p:cNvSpPr/>
          <p:nvPr/>
        </p:nvSpPr>
        <p:spPr>
          <a:xfrm>
            <a:off x="594360" y="2377440"/>
            <a:ext cx="15357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v0</a:t>
            </a:r>
          </a:p>
        </p:txBody>
      </p:sp>
      <p:sp>
        <p:nvSpPr>
          <p:cNvPr id="451" name="Shape 18"/>
          <p:cNvSpPr/>
          <p:nvPr/>
        </p:nvSpPr>
        <p:spPr>
          <a:xfrm>
            <a:off x="2130480" y="2377440"/>
            <a:ext cx="285264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Basic laser–BPW34 setup on breadboard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9"/>
          <p:cNvSpPr/>
          <p:nvPr/>
        </p:nvSpPr>
        <p:spPr>
          <a:xfrm>
            <a:off x="4983480" y="237744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10 runs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0"/>
          <p:cNvSpPr/>
          <p:nvPr/>
        </p:nvSpPr>
        <p:spPr>
          <a:xfrm>
            <a:off x="7178040" y="237744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Detection inconsistent, noise present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1"/>
          <p:cNvSpPr/>
          <p:nvPr/>
        </p:nvSpPr>
        <p:spPr>
          <a:xfrm>
            <a:off x="9372600" y="237744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2"/>
          <p:cNvSpPr/>
          <p:nvPr/>
        </p:nvSpPr>
        <p:spPr>
          <a:xfrm>
            <a:off x="594360" y="3337560"/>
            <a:ext cx="15357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v1</a:t>
            </a:r>
          </a:p>
        </p:txBody>
      </p:sp>
      <p:sp>
        <p:nvSpPr>
          <p:cNvPr id="456" name="Shape 23"/>
          <p:cNvSpPr/>
          <p:nvPr/>
        </p:nvSpPr>
        <p:spPr>
          <a:xfrm>
            <a:off x="2130480" y="3337560"/>
            <a:ext cx="285264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Fixed laser–sensor alignment, stable wiring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4"/>
          <p:cNvSpPr/>
          <p:nvPr/>
        </p:nvSpPr>
        <p:spPr>
          <a:xfrm>
            <a:off x="4983480" y="333756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15 runs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5"/>
          <p:cNvSpPr/>
          <p:nvPr/>
        </p:nvSpPr>
        <p:spPr>
          <a:xfrm>
            <a:off x="7178040" y="333756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Clear signal difference, ~85% accuracy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26"/>
          <p:cNvSpPr/>
          <p:nvPr/>
        </p:nvSpPr>
        <p:spPr>
          <a:xfrm>
            <a:off x="9372600" y="333756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7"/>
          <p:cNvSpPr/>
          <p:nvPr/>
        </p:nvSpPr>
        <p:spPr>
          <a:xfrm>
            <a:off x="594360" y="4297680"/>
            <a:ext cx="15357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v2</a:t>
            </a:r>
          </a:p>
        </p:txBody>
      </p:sp>
      <p:sp>
        <p:nvSpPr>
          <p:cNvPr id="461" name="Shape 28"/>
          <p:cNvSpPr/>
          <p:nvPr/>
        </p:nvSpPr>
        <p:spPr>
          <a:xfrm>
            <a:off x="2130480" y="4297680"/>
            <a:ext cx="285264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Added threshold tuning and signal averaging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9"/>
          <p:cNvSpPr/>
          <p:nvPr/>
        </p:nvSpPr>
        <p:spPr>
          <a:xfrm>
            <a:off x="4983480" y="429768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20 runs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30"/>
          <p:cNvSpPr/>
          <p:nvPr/>
        </p:nvSpPr>
        <p:spPr>
          <a:xfrm>
            <a:off x="7178040" y="429768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≥90% accuracy, faster LCD update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31"/>
          <p:cNvSpPr/>
          <p:nvPr/>
        </p:nvSpPr>
        <p:spPr>
          <a:xfrm>
            <a:off x="9372600" y="429768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32"/>
          <p:cNvSpPr/>
          <p:nvPr/>
        </p:nvSpPr>
        <p:spPr>
          <a:xfrm>
            <a:off x="594360" y="5257800"/>
            <a:ext cx="15357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v3</a:t>
            </a:r>
          </a:p>
        </p:txBody>
      </p:sp>
      <p:sp>
        <p:nvSpPr>
          <p:cNvPr id="466" name="Shape 33"/>
          <p:cNvSpPr/>
          <p:nvPr/>
        </p:nvSpPr>
        <p:spPr>
          <a:xfrm>
            <a:off x="2130480" y="5257800"/>
            <a:ext cx="285264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Reduced ambient light using cover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34"/>
          <p:cNvSpPr/>
          <p:nvPr/>
        </p:nvSpPr>
        <p:spPr>
          <a:xfrm>
            <a:off x="4983480" y="525780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20 runs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35"/>
          <p:cNvSpPr/>
          <p:nvPr/>
        </p:nvSpPr>
        <p:spPr>
          <a:xfrm>
            <a:off x="7178040" y="525780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False alerts reduced significantly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36"/>
          <p:cNvSpPr/>
          <p:nvPr/>
        </p:nvSpPr>
        <p:spPr>
          <a:xfrm>
            <a:off x="9372600" y="525780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38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9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0"/>
          <p:cNvSpPr/>
          <p:nvPr/>
        </p:nvSpPr>
        <p:spPr>
          <a:xfrm>
            <a:off x="10874828" y="6620400"/>
            <a:ext cx="722211" cy="15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17/23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Demo &amp; Artifacts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7"/>
          <p:cNvSpPr/>
          <p:nvPr/>
        </p:nvSpPr>
        <p:spPr>
          <a:xfrm>
            <a:off x="594359" y="1627560"/>
            <a:ext cx="9883765" cy="4772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8"/>
          <p:cNvSpPr/>
          <p:nvPr/>
        </p:nvSpPr>
        <p:spPr>
          <a:xfrm>
            <a:off x="850320" y="2039040"/>
            <a:ext cx="643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Links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9"/>
          <p:cNvSpPr/>
          <p:nvPr/>
        </p:nvSpPr>
        <p:spPr>
          <a:xfrm>
            <a:off x="850320" y="2377440"/>
            <a:ext cx="64371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 10"/>
          <p:cNvSpPr/>
          <p:nvPr/>
        </p:nvSpPr>
        <p:spPr>
          <a:xfrm>
            <a:off x="914400" y="251460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400"/>
              <a:t>Demo video file upload (MP4, ≤2 min)</a:t>
            </a:r>
          </a:p>
        </p:txBody>
      </p:sp>
      <p:sp>
        <p:nvSpPr>
          <p:cNvPr id="485" name="Shape 11"/>
          <p:cNvSpPr/>
          <p:nvPr/>
        </p:nvSpPr>
        <p:spPr>
          <a:xfrm>
            <a:off x="2807280" y="2569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2"/>
          <p:cNvSpPr/>
          <p:nvPr/>
        </p:nvSpPr>
        <p:spPr>
          <a:xfrm>
            <a:off x="2917080" y="2615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dirty="0"/>
              <a:t>https://www.kapwing.com/videos/69772fca3696ef8bc5738c06</a:t>
            </a:r>
            <a:endParaRPr sz="1400" dirty="0"/>
          </a:p>
        </p:txBody>
      </p:sp>
      <p:sp>
        <p:nvSpPr>
          <p:cNvPr id="487" name="Text 13"/>
          <p:cNvSpPr/>
          <p:nvPr/>
        </p:nvSpPr>
        <p:spPr>
          <a:xfrm>
            <a:off x="914400" y="308160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Repository URL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4"/>
          <p:cNvSpPr/>
          <p:nvPr/>
        </p:nvSpPr>
        <p:spPr>
          <a:xfrm>
            <a:off x="2807280" y="3136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Arial"/>
              </a:rPr>
              <a:t>https://github.com/Sibithra/Detection-of-Microplastics-in-Water-/tree/main/Detection-of-Microplastics-in-Water-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5"/>
          <p:cNvSpPr/>
          <p:nvPr/>
        </p:nvSpPr>
        <p:spPr>
          <a:xfrm>
            <a:off x="2917080" y="3182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6"/>
          <p:cNvSpPr/>
          <p:nvPr/>
        </p:nvSpPr>
        <p:spPr>
          <a:xfrm>
            <a:off x="914400" y="364860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Build files (CAD/PCB)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7"/>
          <p:cNvSpPr/>
          <p:nvPr/>
        </p:nvSpPr>
        <p:spPr>
          <a:xfrm>
            <a:off x="2807280" y="3703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dirty="0"/>
              <a:t>Not applicable — breadboard-based prototype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8"/>
          <p:cNvSpPr/>
          <p:nvPr/>
        </p:nvSpPr>
        <p:spPr>
          <a:xfrm>
            <a:off x="2917080" y="3749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9"/>
          <p:cNvSpPr/>
          <p:nvPr/>
        </p:nvSpPr>
        <p:spPr>
          <a:xfrm>
            <a:off x="914400" y="421524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Dataset / logs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20"/>
          <p:cNvSpPr/>
          <p:nvPr/>
        </p:nvSpPr>
        <p:spPr>
          <a:xfrm>
            <a:off x="2807280" y="4270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00" dirty="0"/>
              <a:t>Arduino serial monitor logs and test readings (clean vs plastic water)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1"/>
          <p:cNvSpPr/>
          <p:nvPr/>
        </p:nvSpPr>
        <p:spPr>
          <a:xfrm>
            <a:off x="2917080" y="4316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22"/>
          <p:cNvSpPr/>
          <p:nvPr/>
        </p:nvSpPr>
        <p:spPr>
          <a:xfrm>
            <a:off x="914400" y="478224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Release / version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23"/>
          <p:cNvSpPr/>
          <p:nvPr/>
        </p:nvSpPr>
        <p:spPr>
          <a:xfrm>
            <a:off x="2807280" y="4837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24"/>
          <p:cNvSpPr/>
          <p:nvPr/>
        </p:nvSpPr>
        <p:spPr>
          <a:xfrm>
            <a:off x="2917080" y="4883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v1.0-prototype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30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31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32"/>
          <p:cNvSpPr/>
          <p:nvPr/>
        </p:nvSpPr>
        <p:spPr>
          <a:xfrm>
            <a:off x="10881000" y="6620400"/>
            <a:ext cx="716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18/23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Risks, Limitations &amp; Mitigations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Be honest. Show how you will reduce risk before MVP.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7"/>
          <p:cNvSpPr/>
          <p:nvPr/>
        </p:nvSpPr>
        <p:spPr>
          <a:xfrm>
            <a:off x="594360" y="1920240"/>
            <a:ext cx="37303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8"/>
          <p:cNvSpPr/>
          <p:nvPr/>
        </p:nvSpPr>
        <p:spPr>
          <a:xfrm>
            <a:off x="704160" y="2011680"/>
            <a:ext cx="3511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Risk / limitation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9"/>
          <p:cNvSpPr/>
          <p:nvPr/>
        </p:nvSpPr>
        <p:spPr>
          <a:xfrm>
            <a:off x="432504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0"/>
          <p:cNvSpPr/>
          <p:nvPr/>
        </p:nvSpPr>
        <p:spPr>
          <a:xfrm>
            <a:off x="443484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Impact (L/M/H)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1"/>
          <p:cNvSpPr/>
          <p:nvPr/>
        </p:nvSpPr>
        <p:spPr>
          <a:xfrm>
            <a:off x="630036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2"/>
          <p:cNvSpPr/>
          <p:nvPr/>
        </p:nvSpPr>
        <p:spPr>
          <a:xfrm>
            <a:off x="640980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Likelihood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3"/>
          <p:cNvSpPr/>
          <p:nvPr/>
        </p:nvSpPr>
        <p:spPr>
          <a:xfrm>
            <a:off x="8275320" y="1920240"/>
            <a:ext cx="329148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4"/>
          <p:cNvSpPr/>
          <p:nvPr/>
        </p:nvSpPr>
        <p:spPr>
          <a:xfrm>
            <a:off x="8385120" y="2011680"/>
            <a:ext cx="3071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Mitigation / next action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5"/>
          <p:cNvSpPr/>
          <p:nvPr/>
        </p:nvSpPr>
        <p:spPr>
          <a:xfrm>
            <a:off x="594360" y="2377440"/>
            <a:ext cx="373032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Ambient light interference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16"/>
          <p:cNvSpPr/>
          <p:nvPr/>
        </p:nvSpPr>
        <p:spPr>
          <a:xfrm>
            <a:off x="4325040" y="237744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High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17"/>
          <p:cNvSpPr/>
          <p:nvPr/>
        </p:nvSpPr>
        <p:spPr>
          <a:xfrm>
            <a:off x="6300360" y="237744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 Medium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18"/>
          <p:cNvSpPr/>
          <p:nvPr/>
        </p:nvSpPr>
        <p:spPr>
          <a:xfrm>
            <a:off x="8275320" y="2377440"/>
            <a:ext cx="329148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Enclosure and optical shielding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19"/>
          <p:cNvSpPr/>
          <p:nvPr/>
        </p:nvSpPr>
        <p:spPr>
          <a:xfrm>
            <a:off x="594360" y="3145680"/>
            <a:ext cx="373032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Signal drift over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0"/>
          <p:cNvSpPr/>
          <p:nvPr/>
        </p:nvSpPr>
        <p:spPr>
          <a:xfrm>
            <a:off x="4325040" y="314568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 Medium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1"/>
          <p:cNvSpPr/>
          <p:nvPr/>
        </p:nvSpPr>
        <p:spPr>
          <a:xfrm>
            <a:off x="6300360" y="314568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 Medium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2"/>
          <p:cNvSpPr/>
          <p:nvPr/>
        </p:nvSpPr>
        <p:spPr>
          <a:xfrm>
            <a:off x="8275320" y="3145680"/>
            <a:ext cx="329148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Auto-baseline and periodic calibration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23"/>
          <p:cNvSpPr/>
          <p:nvPr/>
        </p:nvSpPr>
        <p:spPr>
          <a:xfrm>
            <a:off x="594360" y="3913560"/>
            <a:ext cx="373032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Laser–sensor misalignment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4"/>
          <p:cNvSpPr/>
          <p:nvPr/>
        </p:nvSpPr>
        <p:spPr>
          <a:xfrm>
            <a:off x="4325040" y="391356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 Medium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25"/>
          <p:cNvSpPr/>
          <p:nvPr/>
        </p:nvSpPr>
        <p:spPr>
          <a:xfrm>
            <a:off x="6300360" y="391356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Low</a:t>
            </a:r>
          </a:p>
        </p:txBody>
      </p:sp>
      <p:sp>
        <p:nvSpPr>
          <p:cNvPr id="533" name="Shape 26"/>
          <p:cNvSpPr/>
          <p:nvPr/>
        </p:nvSpPr>
        <p:spPr>
          <a:xfrm>
            <a:off x="8275320" y="3913560"/>
            <a:ext cx="329148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Fixed mounts and alignment checks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27"/>
          <p:cNvSpPr/>
          <p:nvPr/>
        </p:nvSpPr>
        <p:spPr>
          <a:xfrm>
            <a:off x="594360" y="4681800"/>
            <a:ext cx="373032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Limited detection accuracy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28"/>
          <p:cNvSpPr/>
          <p:nvPr/>
        </p:nvSpPr>
        <p:spPr>
          <a:xfrm>
            <a:off x="4325040" y="468180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 Medium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29"/>
          <p:cNvSpPr/>
          <p:nvPr/>
        </p:nvSpPr>
        <p:spPr>
          <a:xfrm>
            <a:off x="6300360" y="468180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 Medium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30"/>
          <p:cNvSpPr/>
          <p:nvPr/>
        </p:nvSpPr>
        <p:spPr>
          <a:xfrm>
            <a:off x="8275320" y="4681800"/>
            <a:ext cx="329148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Multiple test runs and threshold tuning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31"/>
          <p:cNvSpPr/>
          <p:nvPr/>
        </p:nvSpPr>
        <p:spPr>
          <a:xfrm>
            <a:off x="594360" y="5449680"/>
            <a:ext cx="373032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Water–electronics safety risk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32"/>
          <p:cNvSpPr/>
          <p:nvPr/>
        </p:nvSpPr>
        <p:spPr>
          <a:xfrm>
            <a:off x="4325040" y="544968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High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33"/>
          <p:cNvSpPr/>
          <p:nvPr/>
        </p:nvSpPr>
        <p:spPr>
          <a:xfrm>
            <a:off x="6300360" y="544968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Low</a:t>
            </a:r>
          </a:p>
        </p:txBody>
      </p:sp>
      <p:sp>
        <p:nvSpPr>
          <p:cNvPr id="541" name="Shape 34"/>
          <p:cNvSpPr/>
          <p:nvPr/>
        </p:nvSpPr>
        <p:spPr>
          <a:xfrm>
            <a:off x="8275320" y="5449680"/>
            <a:ext cx="329148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</a:rPr>
              <a:t>Insulated wiring and sealed sample holder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36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37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38"/>
          <p:cNvSpPr/>
          <p:nvPr/>
        </p:nvSpPr>
        <p:spPr>
          <a:xfrm>
            <a:off x="10853057" y="6620400"/>
            <a:ext cx="743982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19/23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DECISION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Go / Refine / Pivot &amp; Next Steps → MVP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7"/>
          <p:cNvSpPr/>
          <p:nvPr/>
        </p:nvSpPr>
        <p:spPr>
          <a:xfrm>
            <a:off x="594360" y="1705320"/>
            <a:ext cx="566892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8"/>
          <p:cNvSpPr/>
          <p:nvPr/>
        </p:nvSpPr>
        <p:spPr>
          <a:xfrm>
            <a:off x="850320" y="2039040"/>
            <a:ext cx="5157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Decision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9"/>
          <p:cNvSpPr/>
          <p:nvPr/>
        </p:nvSpPr>
        <p:spPr>
          <a:xfrm>
            <a:off x="850320" y="2377440"/>
            <a:ext cx="515700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Decision: </a:t>
            </a:r>
            <a:r>
              <a:rPr lang="en-US" sz="1400" dirty="0"/>
              <a:t>REFINE &amp; RE-TEST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Rationale (tie to metrics):</a:t>
            </a: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0"/>
          <p:cNvSpPr/>
          <p:nvPr/>
        </p:nvSpPr>
        <p:spPr>
          <a:xfrm>
            <a:off x="6537960" y="1874520"/>
            <a:ext cx="53488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1"/>
          <p:cNvSpPr/>
          <p:nvPr/>
        </p:nvSpPr>
        <p:spPr>
          <a:xfrm>
            <a:off x="6793920" y="2039040"/>
            <a:ext cx="483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Next steps toward MVP (not MVP itself)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2"/>
          <p:cNvSpPr/>
          <p:nvPr/>
        </p:nvSpPr>
        <p:spPr>
          <a:xfrm>
            <a:off x="6793920" y="2377440"/>
            <a:ext cx="48369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dirty="0"/>
              <a:t>* Build enclosed optical chamber to block external light.</a:t>
            </a:r>
          </a:p>
          <a:p>
            <a:r>
              <a:rPr lang="en-US" sz="1600" dirty="0"/>
              <a:t>* Add auto-calibration and baseline correction in Arduino code.</a:t>
            </a:r>
          </a:p>
          <a:p>
            <a:r>
              <a:rPr lang="en-US" sz="1600" dirty="0"/>
              <a:t>* Perform long-duration stability testing (24–48 </a:t>
            </a:r>
            <a:r>
              <a:rPr lang="en-US" sz="1600" dirty="0" err="1"/>
              <a:t>hrs</a:t>
            </a:r>
            <a:r>
              <a:rPr lang="en-US" sz="1600" dirty="0"/>
              <a:t>).</a:t>
            </a:r>
          </a:p>
          <a:p>
            <a:r>
              <a:rPr lang="en-US" sz="1600" b="1" dirty="0"/>
              <a:t>KPIs to Carry Forward</a:t>
            </a:r>
          </a:p>
          <a:p>
            <a:r>
              <a:rPr lang="en-US" sz="1600" dirty="0"/>
              <a:t>* Detection accuracy ≥95%</a:t>
            </a:r>
          </a:p>
          <a:p>
            <a:r>
              <a:rPr lang="en-US" sz="1600" dirty="0"/>
              <a:t>* Response time ≤2 seconds</a:t>
            </a:r>
          </a:p>
          <a:p>
            <a:r>
              <a:rPr lang="en-US" sz="1600" dirty="0"/>
              <a:t>* Signal drift &lt;5% per day</a:t>
            </a:r>
          </a:p>
          <a:p>
            <a:r>
              <a:rPr lang="en-US" sz="1600" dirty="0"/>
              <a:t>* False alerts ≤5%</a:t>
            </a: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]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4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5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6"/>
          <p:cNvSpPr/>
          <p:nvPr/>
        </p:nvSpPr>
        <p:spPr>
          <a:xfrm>
            <a:off x="10874828" y="6620400"/>
            <a:ext cx="722211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20/23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71F60A-41FD-F004-0F7C-82FC36FDA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699" y="3000448"/>
            <a:ext cx="515700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reached ~90% but needs improvement to ≥95%.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 drift observed over long runs.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Ambient light still affects readings.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References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7"/>
          <p:cNvSpPr/>
          <p:nvPr/>
        </p:nvSpPr>
        <p:spPr>
          <a:xfrm>
            <a:off x="442320" y="1426320"/>
            <a:ext cx="10972440" cy="4854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[1] NIH Research Matters, “Plastic particles in bottled water,” National Institutes of Health, 2024.</a:t>
            </a:r>
            <a:br>
              <a:rPr lang="en-US"/>
            </a:br>
            <a:r>
              <a:rPr lang="en-US"/>
              <a:t>URL: </a:t>
            </a:r>
            <a:r>
              <a:rPr lang="en-US">
                <a:hlinkClick r:id="rId3"/>
              </a:rPr>
              <a:t>https://www.nih.gov/news-events/nih-research-matters/plastic-particles-bottled-water</a:t>
            </a:r>
            <a:r>
              <a:rPr lang="en-US"/>
              <a:t> (accessed 2026-01-20).</a:t>
            </a:r>
          </a:p>
          <a:p>
            <a:r>
              <a:rPr lang="en-US"/>
              <a:t>[2] A. Shrivastava </a:t>
            </a:r>
            <a:r>
              <a:rPr lang="en-US" i="1"/>
              <a:t>et al.</a:t>
            </a:r>
            <a:r>
              <a:rPr lang="en-US"/>
              <a:t>, “Microplastics in drinking water: Detection and challenges,” </a:t>
            </a:r>
            <a:r>
              <a:rPr lang="en-US" i="1"/>
              <a:t>MDPI Sensors</a:t>
            </a:r>
            <a:r>
              <a:rPr lang="en-US"/>
              <a:t>, vol. 4, no. 2, 2024.</a:t>
            </a:r>
            <a:br>
              <a:rPr lang="en-US"/>
            </a:br>
            <a:r>
              <a:rPr lang="en-US"/>
              <a:t>URL: </a:t>
            </a:r>
            <a:r>
              <a:rPr lang="en-US">
                <a:hlinkClick r:id="rId4"/>
              </a:rPr>
              <a:t>https://www.mdpi.com/2673-8929/4/2/24</a:t>
            </a:r>
            <a:r>
              <a:rPr lang="en-US"/>
              <a:t> (accessed 2026-01-20).</a:t>
            </a:r>
          </a:p>
          <a:p>
            <a:r>
              <a:rPr lang="en-US"/>
              <a:t>[3] Deutsche Welle, “Bottled water not safe from microplastic contamination,” 2018.</a:t>
            </a:r>
            <a:br>
              <a:rPr lang="en-US"/>
            </a:br>
            <a:r>
              <a:rPr lang="en-US"/>
              <a:t>URL: </a:t>
            </a:r>
            <a:r>
              <a:rPr lang="en-US">
                <a:hlinkClick r:id="rId5"/>
              </a:rPr>
              <a:t>https://www.dw.com/en/bottled-water-not-safe-from-microplastic-contamination/a-42936246</a:t>
            </a:r>
            <a:r>
              <a:rPr lang="en-US"/>
              <a:t> (accessed 2026-01-20).</a:t>
            </a:r>
          </a:p>
          <a:p>
            <a:r>
              <a:rPr lang="en-US"/>
              <a:t>[4] S. Mintenig </a:t>
            </a:r>
            <a:r>
              <a:rPr lang="en-US" i="1"/>
              <a:t>et al.</a:t>
            </a:r>
            <a:r>
              <a:rPr lang="en-US"/>
              <a:t>, “Low numbers of microplastics detected in drinking water,” </a:t>
            </a:r>
            <a:r>
              <a:rPr lang="en-US" i="1"/>
              <a:t>Water Research</a:t>
            </a:r>
            <a:r>
              <a:rPr lang="en-US"/>
              <a:t>, vol. 142, pp. 488–495, 2019.</a:t>
            </a:r>
            <a:br>
              <a:rPr lang="en-US"/>
            </a:br>
            <a:r>
              <a:rPr lang="en-US"/>
              <a:t>URL: </a:t>
            </a:r>
            <a:r>
              <a:rPr lang="en-US">
                <a:hlinkClick r:id="rId6"/>
              </a:rPr>
              <a:t>https://www.sciencedirect.com/science/article/pii/S0043135419301794</a:t>
            </a:r>
            <a:r>
              <a:rPr lang="en-US"/>
              <a:t> (accessed 2026-01-20).</a:t>
            </a:r>
          </a:p>
          <a:p>
            <a:r>
              <a:rPr lang="en-US"/>
              <a:t>[5] PubMed, “Microplastic exposure via drinking water,” PubMed ID: 38537794, 2024.</a:t>
            </a:r>
            <a:br>
              <a:rPr lang="en-US"/>
            </a:br>
            <a:r>
              <a:rPr lang="en-US"/>
              <a:t>URL: </a:t>
            </a:r>
            <a:r>
              <a:rPr lang="en-US">
                <a:hlinkClick r:id="rId7"/>
              </a:rPr>
              <a:t>https://pubmed.ncbi.nlm.nih.gov/38537794/</a:t>
            </a:r>
            <a:r>
              <a:rPr lang="en-US"/>
              <a:t> (accessed 2026-01-20).</a:t>
            </a:r>
          </a:p>
        </p:txBody>
      </p:sp>
      <p:sp>
        <p:nvSpPr>
          <p:cNvPr id="571" name="Text 8"/>
          <p:cNvSpPr/>
          <p:nvPr/>
        </p:nvSpPr>
        <p:spPr>
          <a:xfrm>
            <a:off x="594360" y="1371240"/>
            <a:ext cx="10789560" cy="49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dirty="0"/>
          </a:p>
        </p:txBody>
      </p:sp>
      <p:sp>
        <p:nvSpPr>
          <p:cNvPr id="573" name="Shape 10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1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2"/>
          <p:cNvSpPr/>
          <p:nvPr/>
        </p:nvSpPr>
        <p:spPr>
          <a:xfrm>
            <a:off x="10961914" y="6620400"/>
            <a:ext cx="635126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21/23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D9324C02AF684081B0638F841F77A7" ma:contentTypeVersion="11" ma:contentTypeDescription="Create a new document." ma:contentTypeScope="" ma:versionID="1b13ff4ea17d3374a00a7341d7b90113">
  <xsd:schema xmlns:xsd="http://www.w3.org/2001/XMLSchema" xmlns:xs="http://www.w3.org/2001/XMLSchema" xmlns:p="http://schemas.microsoft.com/office/2006/metadata/properties" xmlns:ns2="8f4bcbf8-e4fe-49fe-9064-aa6724e1aff7" xmlns:ns3="83df3408-28af-437f-b204-b64d5303919d" targetNamespace="http://schemas.microsoft.com/office/2006/metadata/properties" ma:root="true" ma:fieldsID="222875a54dc1d524ea3fa857575deade" ns2:_="" ns3:_="">
    <xsd:import namespace="8f4bcbf8-e4fe-49fe-9064-aa6724e1aff7"/>
    <xsd:import namespace="83df3408-28af-437f-b204-b64d530391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bcbf8-e4fe-49fe-9064-aa6724e1af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7d36ee0-516a-46d7-9c37-891188aa7a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df3408-28af-437f-b204-b64d5303919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7261d6e-d725-4d9d-b8b3-d7d7b2a3ce19}" ma:internalName="TaxCatchAll" ma:showField="CatchAllData" ma:web="83df3408-28af-437f-b204-b64d530391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4bcbf8-e4fe-49fe-9064-aa6724e1aff7">
      <Terms xmlns="http://schemas.microsoft.com/office/infopath/2007/PartnerControls"/>
    </lcf76f155ced4ddcb4097134ff3c332f>
    <TaxCatchAll xmlns="83df3408-28af-437f-b204-b64d5303919d" xsi:nil="true"/>
  </documentManagement>
</p:properties>
</file>

<file path=customXml/itemProps1.xml><?xml version="1.0" encoding="utf-8"?>
<ds:datastoreItem xmlns:ds="http://schemas.openxmlformats.org/officeDocument/2006/customXml" ds:itemID="{90FD2371-FB4E-47C0-87B5-C051B9AC3E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204B68-5F55-42A9-8C1A-F12F7C5189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4bcbf8-e4fe-49fe-9064-aa6724e1aff7"/>
    <ds:schemaRef ds:uri="83df3408-28af-437f-b204-b64d530391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D21D785-60B4-4286-8C4E-9EABFB07EBE9}">
  <ds:schemaRefs>
    <ds:schemaRef ds:uri="http://purl.org/dc/terms/"/>
    <ds:schemaRef ds:uri="http://schemas.microsoft.com/office/2006/metadata/properties"/>
    <ds:schemaRef ds:uri="8f4bcbf8-e4fe-49fe-9064-aa6724e1aff7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83df3408-28af-437f-b204-b64d5303919d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1991</Words>
  <Application>Microsoft Office PowerPoint</Application>
  <PresentationFormat>Widescreen</PresentationFormat>
  <Paragraphs>381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Thiruvaazhi Uloli</dc:creator>
  <cp:lastModifiedBy>sibithra v</cp:lastModifiedBy>
  <cp:revision>6</cp:revision>
  <dcterms:modified xsi:type="dcterms:W3CDTF">2026-01-26T09:39:15Z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2025-12-25T17:28:54Z</dcterms:created>
  <dc:creator>SoI Projects</dc:creator>
  <dc:description/>
  <dc:language>en-US</dc:language>
  <cp:lastModifiedBy>SoI Projects</cp:lastModifiedBy>
  <dcterms:modified xsi:type="dcterms:W3CDTF">2025-12-25T17:28:54Z</dcterms:modified>
  <cp:revision>1</cp:revision>
  <dc:subject>SoI Prototype Stage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On-screen Show (16:9)</vt:lpwstr>
  </property>
  <property fmtid="{D5CDD505-2E9C-101B-9397-08002B2CF9AE}" pid="4" name="Slides">
    <vt:r8>21</vt:r8>
  </property>
  <property fmtid="{D5CDD505-2E9C-101B-9397-08002B2CF9AE}" pid="5" name="ContentTypeId">
    <vt:lpwstr>0x0101004AD9324C02AF684081B0638F841F77A7</vt:lpwstr>
  </property>
  <property fmtid="{D5CDD505-2E9C-101B-9397-08002B2CF9AE}" pid="6" name="MediaServiceImageTags">
    <vt:lpwstr/>
  </property>
</Properties>
</file>